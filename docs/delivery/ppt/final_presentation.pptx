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/>
  <Relationship Id="rId2" Type="http://schemas.openxmlformats.org/package/2006/relationships/metadata/core-properties" Target="docProps/core.xml"/>
  <Relationship Id="rId3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1695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
<Relationships xmlns="http://schemas.openxmlformats.org/package/2006/relationships">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slide" Target="slides/slide7.xml"/> <Relationship Id="rId9" Type="http://schemas.openxmlformats.org/officeDocument/2006/relationships/slide" Target="slides/slide8.xml"/> <Relationship Id="rId10" Type="http://schemas.openxmlformats.org/officeDocument/2006/relationships/slide" Target="slides/slide9.xml"/> <Relationship Id="rId11" Type="http://schemas.openxmlformats.org/officeDocument/2006/relationships/slide" Target="slides/slide10.xml"/> <Relationship Id="rId12" Type="http://schemas.openxmlformats.org/officeDocument/2006/relationships/slide" Target="slides/slide11.xml"/> <Relationship Id="rId13" Type="http://schemas.openxmlformats.org/officeDocument/2006/relationships/slide" Target="slides/slide12.xml"/>
</Relationships>
</file>

<file path=ppt/slideLayouts/_rels/slideLayout1.xml.rels><?xml version="1.0" encoding="UTF-8" standalone="yes"?>
<Relationships xmlns="http://schemas.openxmlformats.org/package/2006/relationships">
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theme" Target="../theme/theme1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 <Relationship Id="rId2" Type="http://schemas.openxmlformats.org/officeDocument/2006/relationships/image" Target="../media/frontend_luojia_scene_headless.pn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 <Relationship Id="rId2" Type="http://schemas.openxmlformats.org/officeDocument/2006/relationships/image" Target="../media/frontend_luojia_scene_headless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 <Relationship Id="rId2" Type="http://schemas.openxmlformats.org/officeDocument/2006/relationships/image" Target="../media/frontend_luojia_scene_headless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 <Relationship Id="rId2" Type="http://schemas.openxmlformats.org/officeDocument/2006/relationships/image" Target="../media/v05_report_page_summary_route_risk_profile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ontend_luojia_scene_headl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over-overlay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235"/>
          </a:solidFill>
          <a:ln>
            <a:solidFill>
              <a:srgbClr val="102235"/>
            </a:solidFill>
          </a:ln>
        </p:spPr>
      </p:sp>
      <p:sp>
        <p:nvSpPr>
          <p:cNvPr id="4" name="cover-title"/>
          <p:cNvSpPr txBox="1"/>
          <p:nvPr/>
        </p:nvSpPr>
        <p:spPr>
          <a:xfrm>
            <a:off x="594360" y="868680"/>
            <a:ext cx="941832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基于 SuperMap GIS 底座的</a:t>
            </a:r>
            <a:endParaRPr lang="zh-CN"/>
          </a:p>
          <a:p>
            <a:pPr/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低空视觉自主导航与三维仿真规划系统</a:t>
            </a:r>
            <a:endParaRPr lang="zh-CN"/>
          </a:p>
        </p:txBody>
      </p:sp>
      <p:sp>
        <p:nvSpPr>
          <p:cNvPr id="5" name="cover-subtitle"/>
          <p:cNvSpPr txBox="1"/>
          <p:nvPr/>
        </p:nvSpPr>
        <p:spPr>
          <a:xfrm>
            <a:off x="621792" y="2057400"/>
            <a:ext cx="9235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>
                <a:solidFill>
                  <a:srgbClr val="DDEAF2"/>
                </a:solidFill>
                <a:latin typeface="Microsoft YaHei"/>
                <a:ea typeface="Microsoft YaHei"/>
              </a:rPr>
              <a:t>UAV 影像帧 -&gt; ORB 视觉定位 -&gt; 后端融合导航状态 -&gt; SuperMap 三维连续飞行</a:t>
            </a:r>
            <a:endParaRPr lang="zh-CN"/>
          </a:p>
        </p:txBody>
      </p:sp>
      <p:sp>
        <p:nvSpPr>
          <p:cNvPr id="6" name="pill-0"/>
          <p:cNvSpPr/>
          <p:nvPr/>
        </p:nvSpPr>
        <p:spPr>
          <a:xfrm>
            <a:off x="658368" y="2697480"/>
            <a:ext cx="1417320" cy="329184"/>
          </a:xfrm>
          <a:prstGeom prst="roundRect">
            <a:avLst/>
          </a:prstGeom>
          <a:solidFill>
            <a:srgbClr val="1F9D8A"/>
          </a:solidFill>
          <a:ln>
            <a:solidFill>
              <a:srgbClr val="1F9D8A"/>
            </a:solidFill>
          </a:ln>
        </p:spPr>
      </p:sp>
      <p:sp>
        <p:nvSpPr>
          <p:cNvPr id="7" name="pill-text-0"/>
          <p:cNvSpPr txBox="1"/>
          <p:nvPr/>
        </p:nvSpPr>
        <p:spPr>
          <a:xfrm>
            <a:off x="713232" y="2779776"/>
            <a:ext cx="129844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</a:rPr>
              <a:t>软件仿真验证</a:t>
            </a:r>
            <a:endParaRPr lang="zh-CN"/>
          </a:p>
        </p:txBody>
      </p:sp>
      <p:sp>
        <p:nvSpPr>
          <p:cNvPr id="8" name="pill-1"/>
          <p:cNvSpPr/>
          <p:nvPr/>
        </p:nvSpPr>
        <p:spPr>
          <a:xfrm>
            <a:off x="2258568" y="2697480"/>
            <a:ext cx="1417320" cy="329184"/>
          </a:xfrm>
          <a:prstGeom prst="round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</p:sp>
      <p:sp>
        <p:nvSpPr>
          <p:cNvPr id="9" name="pill-text-1"/>
          <p:cNvSpPr txBox="1"/>
          <p:nvPr/>
        </p:nvSpPr>
        <p:spPr>
          <a:xfrm>
            <a:off x="2313432" y="2779776"/>
            <a:ext cx="129844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</a:rPr>
              <a:t>不接真实飞控</a:t>
            </a:r>
            <a:endParaRPr lang="zh-CN"/>
          </a:p>
        </p:txBody>
      </p:sp>
      <p:sp>
        <p:nvSpPr>
          <p:cNvPr id="10" name="pill-2"/>
          <p:cNvSpPr/>
          <p:nvPr/>
        </p:nvSpPr>
        <p:spPr>
          <a:xfrm>
            <a:off x="3858768" y="2697480"/>
            <a:ext cx="1828800" cy="329184"/>
          </a:xfrm>
          <a:prstGeom prst="round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</p:sp>
      <p:sp>
        <p:nvSpPr>
          <p:cNvPr id="11" name="pill-text-2"/>
          <p:cNvSpPr txBox="1"/>
          <p:nvPr/>
        </p:nvSpPr>
        <p:spPr>
          <a:xfrm>
            <a:off x="3913632" y="2779776"/>
            <a:ext cx="169164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</a:rPr>
              <a:t>v0.5a ORB 门禁通过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ine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411480" y="310896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低空任务不能只看航线</a:t>
            </a:r>
            <a:endParaRPr lang="zh-CN"/>
          </a:p>
        </p:txBody>
      </p:sp>
      <p:sp>
        <p:nvSpPr>
          <p:cNvPr id="4" name="subtitle"/>
          <p:cNvSpPr txBox="1"/>
          <p:nvPr/>
        </p:nvSpPr>
        <p:spPr>
          <a:xfrm>
            <a:off x="438912" y="74980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核心问题是：无人机如何根据视觉影像判断自己在哪里，并解释定位质量。</a:t>
            </a:r>
            <a:endParaRPr lang="zh-CN"/>
          </a:p>
        </p:txBody>
      </p:sp>
      <p:sp>
        <p:nvSpPr>
          <p:cNvPr id="5" name="flow-5"/>
          <p:cNvSpPr/>
          <p:nvPr/>
        </p:nvSpPr>
        <p:spPr>
          <a:xfrm>
            <a:off x="594360" y="4251960"/>
            <a:ext cx="2062886" cy="621792"/>
          </a:xfrm>
          <a:prstGeom prst="roundRect">
            <a:avLst/>
          </a:prstGeom>
          <a:solidFill>
            <a:srgbClr val="EAF2FA"/>
          </a:solidFill>
          <a:ln>
            <a:solidFill>
              <a:srgbClr val="9BC2E6"/>
            </a:solidFill>
          </a:ln>
        </p:spPr>
      </p:sp>
      <p:sp>
        <p:nvSpPr>
          <p:cNvPr id="6" name="flow-text-6"/>
          <p:cNvSpPr txBox="1"/>
          <p:nvPr/>
        </p:nvSpPr>
        <p:spPr>
          <a:xfrm>
            <a:off x="649224" y="4434840"/>
            <a:ext cx="195315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72033"/>
                </a:solidFill>
                <a:latin typeface="Microsoft YaHei"/>
                <a:ea typeface="Microsoft YaHei"/>
              </a:rPr>
              <a:t>UAV 影像帧</a:t>
            </a:r>
            <a:endParaRPr lang="zh-CN"/>
          </a:p>
        </p:txBody>
      </p:sp>
      <p:sp>
        <p:nvSpPr>
          <p:cNvPr id="7" name="flow-arrow-7"/>
          <p:cNvSpPr txBox="1"/>
          <p:nvPr/>
        </p:nvSpPr>
        <p:spPr>
          <a:xfrm>
            <a:off x="2648102" y="448056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00" b="1">
                <a:solidFill>
                  <a:srgbClr val="5C6B7A"/>
                </a:solidFill>
                <a:latin typeface="Microsoft YaHei"/>
                <a:ea typeface="Microsoft YaHei"/>
              </a:rPr>
              <a:t>&gt;</a:t>
            </a:r>
            <a:endParaRPr lang="zh-CN"/>
          </a:p>
        </p:txBody>
      </p:sp>
      <p:sp>
        <p:nvSpPr>
          <p:cNvPr id="8" name="flow-8"/>
          <p:cNvSpPr/>
          <p:nvPr/>
        </p:nvSpPr>
        <p:spPr>
          <a:xfrm>
            <a:off x="2730398" y="4251960"/>
            <a:ext cx="2062886" cy="621792"/>
          </a:xfrm>
          <a:prstGeom prst="roundRect">
            <a:avLst/>
          </a:prstGeom>
          <a:solidFill>
            <a:srgbClr val="EAF7F5"/>
          </a:solidFill>
          <a:ln>
            <a:solidFill>
              <a:srgbClr val="9BC2E6"/>
            </a:solidFill>
          </a:ln>
        </p:spPr>
      </p:sp>
      <p:sp>
        <p:nvSpPr>
          <p:cNvPr id="9" name="flow-text-9"/>
          <p:cNvSpPr txBox="1"/>
          <p:nvPr/>
        </p:nvSpPr>
        <p:spPr>
          <a:xfrm>
            <a:off x="2785262" y="4434840"/>
            <a:ext cx="195315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72033"/>
                </a:solidFill>
                <a:latin typeface="Microsoft YaHei"/>
                <a:ea typeface="Microsoft YaHei"/>
              </a:rPr>
              <a:t>视觉地理重定位</a:t>
            </a:r>
            <a:endParaRPr lang="zh-CN"/>
          </a:p>
        </p:txBody>
      </p:sp>
      <p:sp>
        <p:nvSpPr>
          <p:cNvPr id="10" name="flow-arrow-10"/>
          <p:cNvSpPr txBox="1"/>
          <p:nvPr/>
        </p:nvSpPr>
        <p:spPr>
          <a:xfrm>
            <a:off x="4784141" y="448056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00" b="1">
                <a:solidFill>
                  <a:srgbClr val="5C6B7A"/>
                </a:solidFill>
                <a:latin typeface="Microsoft YaHei"/>
                <a:ea typeface="Microsoft YaHei"/>
              </a:rPr>
              <a:t>&gt;</a:t>
            </a:r>
            <a:endParaRPr lang="zh-CN"/>
          </a:p>
        </p:txBody>
      </p:sp>
      <p:sp>
        <p:nvSpPr>
          <p:cNvPr id="11" name="flow-11"/>
          <p:cNvSpPr/>
          <p:nvPr/>
        </p:nvSpPr>
        <p:spPr>
          <a:xfrm>
            <a:off x="4866437" y="4251960"/>
            <a:ext cx="2062886" cy="621792"/>
          </a:xfrm>
          <a:prstGeom prst="roundRect">
            <a:avLst/>
          </a:prstGeom>
          <a:solidFill>
            <a:srgbClr val="EAF2FA"/>
          </a:solidFill>
          <a:ln>
            <a:solidFill>
              <a:srgbClr val="9BC2E6"/>
            </a:solidFill>
          </a:ln>
        </p:spPr>
      </p:sp>
      <p:sp>
        <p:nvSpPr>
          <p:cNvPr id="12" name="flow-text-12"/>
          <p:cNvSpPr txBox="1"/>
          <p:nvPr/>
        </p:nvSpPr>
        <p:spPr>
          <a:xfrm>
            <a:off x="4921301" y="4434840"/>
            <a:ext cx="195315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72033"/>
                </a:solidFill>
                <a:latin typeface="Microsoft YaHei"/>
                <a:ea typeface="Microsoft YaHei"/>
              </a:rPr>
              <a:t>融合导航状态</a:t>
            </a:r>
            <a:endParaRPr lang="zh-CN"/>
          </a:p>
        </p:txBody>
      </p:sp>
      <p:sp>
        <p:nvSpPr>
          <p:cNvPr id="13" name="flow-arrow-13"/>
          <p:cNvSpPr txBox="1"/>
          <p:nvPr/>
        </p:nvSpPr>
        <p:spPr>
          <a:xfrm>
            <a:off x="6920179" y="448056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00" b="1">
                <a:solidFill>
                  <a:srgbClr val="5C6B7A"/>
                </a:solidFill>
                <a:latin typeface="Microsoft YaHei"/>
                <a:ea typeface="Microsoft YaHei"/>
              </a:rPr>
              <a:t>&gt;</a:t>
            </a:r>
            <a:endParaRPr lang="zh-CN"/>
          </a:p>
        </p:txBody>
      </p:sp>
      <p:sp>
        <p:nvSpPr>
          <p:cNvPr id="14" name="flow-14"/>
          <p:cNvSpPr/>
          <p:nvPr/>
        </p:nvSpPr>
        <p:spPr>
          <a:xfrm>
            <a:off x="7002475" y="4251960"/>
            <a:ext cx="2062886" cy="621792"/>
          </a:xfrm>
          <a:prstGeom prst="roundRect">
            <a:avLst/>
          </a:prstGeom>
          <a:solidFill>
            <a:srgbClr val="EAF7F5"/>
          </a:solidFill>
          <a:ln>
            <a:solidFill>
              <a:srgbClr val="9BC2E6"/>
            </a:solidFill>
          </a:ln>
        </p:spPr>
      </p:sp>
      <p:sp>
        <p:nvSpPr>
          <p:cNvPr id="15" name="flow-text-15"/>
          <p:cNvSpPr txBox="1"/>
          <p:nvPr/>
        </p:nvSpPr>
        <p:spPr>
          <a:xfrm>
            <a:off x="7057339" y="4434840"/>
            <a:ext cx="195315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72033"/>
                </a:solidFill>
                <a:latin typeface="Microsoft YaHei"/>
                <a:ea typeface="Microsoft YaHei"/>
              </a:rPr>
              <a:t>三维连续飞行</a:t>
            </a:r>
            <a:endParaRPr lang="zh-CN"/>
          </a:p>
        </p:txBody>
      </p:sp>
      <p:sp>
        <p:nvSpPr>
          <p:cNvPr id="16" name="flow-arrow-16"/>
          <p:cNvSpPr txBox="1"/>
          <p:nvPr/>
        </p:nvSpPr>
        <p:spPr>
          <a:xfrm>
            <a:off x="9056218" y="448056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00" b="1">
                <a:solidFill>
                  <a:srgbClr val="5C6B7A"/>
                </a:solidFill>
                <a:latin typeface="Microsoft YaHei"/>
                <a:ea typeface="Microsoft YaHei"/>
              </a:rPr>
              <a:t>&gt;</a:t>
            </a:r>
            <a:endParaRPr lang="zh-CN"/>
          </a:p>
        </p:txBody>
      </p:sp>
      <p:sp>
        <p:nvSpPr>
          <p:cNvPr id="17" name="flow-17"/>
          <p:cNvSpPr/>
          <p:nvPr/>
        </p:nvSpPr>
        <p:spPr>
          <a:xfrm>
            <a:off x="9138514" y="4251960"/>
            <a:ext cx="2062886" cy="621792"/>
          </a:xfrm>
          <a:prstGeom prst="roundRect">
            <a:avLst/>
          </a:prstGeom>
          <a:solidFill>
            <a:srgbClr val="EAF2FA"/>
          </a:solidFill>
          <a:ln>
            <a:solidFill>
              <a:srgbClr val="9BC2E6"/>
            </a:solidFill>
          </a:ln>
        </p:spPr>
      </p:sp>
      <p:sp>
        <p:nvSpPr>
          <p:cNvPr id="18" name="flow-text-18"/>
          <p:cNvSpPr txBox="1"/>
          <p:nvPr/>
        </p:nvSpPr>
        <p:spPr>
          <a:xfrm>
            <a:off x="9193378" y="4434840"/>
            <a:ext cx="195315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72033"/>
                </a:solidFill>
                <a:latin typeface="Microsoft YaHei"/>
                <a:ea typeface="Microsoft YaHei"/>
              </a:rPr>
              <a:t>质量报告</a:t>
            </a:r>
            <a:endParaRPr lang="zh-CN"/>
          </a:p>
        </p:txBody>
      </p:sp>
      <p:sp>
        <p:nvSpPr>
          <p:cNvPr id="19" name="card-19"/>
          <p:cNvSpPr/>
          <p:nvPr/>
        </p:nvSpPr>
        <p:spPr>
          <a:xfrm>
            <a:off x="594360" y="13258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20" name="title-20"/>
          <p:cNvSpPr txBox="1"/>
          <p:nvPr/>
        </p:nvSpPr>
        <p:spPr>
          <a:xfrm>
            <a:off x="758952" y="1453896"/>
            <a:ext cx="30998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二维航线不足以解释导航</a:t>
            </a:r>
            <a:endParaRPr lang="zh-CN"/>
          </a:p>
        </p:txBody>
      </p:sp>
      <p:sp>
        <p:nvSpPr>
          <p:cNvPr id="21" name="body-21"/>
          <p:cNvSpPr txBox="1"/>
          <p:nvPr/>
        </p:nvSpPr>
        <p:spPr>
          <a:xfrm>
            <a:off x="758952" y="1764792"/>
            <a:ext cx="309981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固定航线动画只能说明路线存在，无法说明 UAV 视觉帧如何更新当前位置。</a:t>
            </a:r>
            <a:endParaRPr lang="zh-CN"/>
          </a:p>
        </p:txBody>
      </p:sp>
      <p:sp>
        <p:nvSpPr>
          <p:cNvPr id="22" name="card-22"/>
          <p:cNvSpPr/>
          <p:nvPr/>
        </p:nvSpPr>
        <p:spPr>
          <a:xfrm>
            <a:off x="4434840" y="13258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23" name="title-23"/>
          <p:cNvSpPr txBox="1"/>
          <p:nvPr/>
        </p:nvSpPr>
        <p:spPr>
          <a:xfrm>
            <a:off x="4599432" y="1453896"/>
            <a:ext cx="30998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低空空间约束复杂</a:t>
            </a:r>
            <a:endParaRPr lang="zh-CN"/>
          </a:p>
        </p:txBody>
      </p:sp>
      <p:sp>
        <p:nvSpPr>
          <p:cNvPr id="24" name="body-24"/>
          <p:cNvSpPr txBox="1"/>
          <p:nvPr/>
        </p:nvSpPr>
        <p:spPr>
          <a:xfrm>
            <a:off x="4599432" y="1764792"/>
            <a:ext cx="309981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地形、建筑、风险区和临时事件共同影响任务安全。</a:t>
            </a:r>
            <a:endParaRPr lang="zh-CN"/>
          </a:p>
        </p:txBody>
      </p:sp>
      <p:sp>
        <p:nvSpPr>
          <p:cNvPr id="25" name="card-25"/>
          <p:cNvSpPr/>
          <p:nvPr/>
        </p:nvSpPr>
        <p:spPr>
          <a:xfrm>
            <a:off x="8275320" y="13258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26" name="title-26"/>
          <p:cNvSpPr txBox="1"/>
          <p:nvPr/>
        </p:nvSpPr>
        <p:spPr>
          <a:xfrm>
            <a:off x="8439912" y="1453896"/>
            <a:ext cx="30998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需要可量化证据</a:t>
            </a:r>
            <a:endParaRPr lang="zh-CN"/>
          </a:p>
        </p:txBody>
      </p:sp>
      <p:sp>
        <p:nvSpPr>
          <p:cNvPr id="27" name="body-27"/>
          <p:cNvSpPr txBox="1"/>
          <p:nvPr/>
        </p:nvSpPr>
        <p:spPr>
          <a:xfrm>
            <a:off x="8439912" y="1764792"/>
            <a:ext cx="309981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输出视觉位置、置信度、误差半径、轨迹偏差和回退帧。</a:t>
            </a:r>
            <a:endParaRPr lang="zh-CN"/>
          </a:p>
        </p:txBody>
      </p:sp>
      <p:sp>
        <p:nvSpPr>
          <p:cNvPr id="28" name="footer"/>
          <p:cNvSpPr txBox="1"/>
          <p:nvPr/>
        </p:nvSpPr>
        <p:spPr>
          <a:xfrm>
            <a:off x="9829800" y="647395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zh-CN" sz="700">
                <a:solidFill>
                  <a:srgbClr val="8CA0AF"/>
                </a:solidFill>
                <a:latin typeface="Microsoft YaHei"/>
                <a:ea typeface="Microsoft YaHei"/>
              </a:rPr>
              <a:t>视觉自主导航仿真系统  |  2/12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ine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411480" y="310896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项目定位与边界</a:t>
            </a:r>
            <a:endParaRPr lang="zh-CN"/>
          </a:p>
        </p:txBody>
      </p:sp>
      <p:sp>
        <p:nvSpPr>
          <p:cNvPr id="4" name="subtitle"/>
          <p:cNvSpPr txBox="1"/>
          <p:nvPr/>
        </p:nvSpPr>
        <p:spPr>
          <a:xfrm>
            <a:off x="438912" y="74980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面向低空巡检、应急推演和训练验证的软件仿真系统。</a:t>
            </a:r>
            <a:endParaRPr lang="zh-CN"/>
          </a:p>
        </p:txBody>
      </p:sp>
      <p:sp>
        <p:nvSpPr>
          <p:cNvPr id="5" name="bullets"/>
          <p:cNvSpPr txBox="1"/>
          <p:nvPr/>
        </p:nvSpPr>
        <p:spPr>
          <a:xfrm>
            <a:off x="731520" y="1234440"/>
            <a:ext cx="6583680" cy="3749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>
                <a:solidFill>
                  <a:srgbClr val="172033"/>
                </a:solidFill>
                <a:latin typeface="Microsoft YaHei"/>
                <a:ea typeface="Microsoft YaHei"/>
              </a:rPr>
              <a:t>• 项目定位：视觉自主导航仿真平台，聚焦 UAV 影像帧、视觉定位、融合状态和三维演示。</a:t>
            </a:r>
            <a:endParaRPr lang="zh-CN"/>
          </a:p>
          <a:p>
            <a:pPr/>
            <a:r>
              <a:rPr lang="zh-CN" sz="1300">
                <a:solidFill>
                  <a:srgbClr val="172033"/>
                </a:solidFill>
                <a:latin typeface="Microsoft YaHei"/>
                <a:ea typeface="Microsoft YaHei"/>
              </a:rPr>
              <a:t>• 能力边界：不接真实飞控，不下发真实飞行控制指令。</a:t>
            </a:r>
            <a:endParaRPr lang="zh-CN"/>
          </a:p>
          <a:p>
            <a:pPr/>
            <a:r>
              <a:rPr lang="zh-CN" sz="1300">
                <a:solidFill>
                  <a:srgbClr val="172033"/>
                </a:solidFill>
                <a:latin typeface="Microsoft YaHei"/>
                <a:ea typeface="Microsoft YaHei"/>
              </a:rPr>
              <a:t>• 数据边界：当前 UAV 帧为半真实演示帧，不等同于真实飞行相机数据。</a:t>
            </a:r>
            <a:endParaRPr lang="zh-CN"/>
          </a:p>
          <a:p>
            <a:pPr/>
            <a:r>
              <a:rPr lang="zh-CN" sz="1300">
                <a:solidFill>
                  <a:srgbClr val="172033"/>
                </a:solidFill>
                <a:latin typeface="Microsoft YaHei"/>
                <a:ea typeface="Microsoft YaHei"/>
              </a:rPr>
              <a:t>• 场景边界：SuperMap 三维场景用于空间关系验证，不包装为精细倾斜摄影级建模。</a:t>
            </a:r>
            <a:endParaRPr lang="zh-CN"/>
          </a:p>
        </p:txBody>
      </p:sp>
      <p:sp>
        <p:nvSpPr>
          <p:cNvPr id="6" name="card-6"/>
          <p:cNvSpPr/>
          <p:nvPr/>
        </p:nvSpPr>
        <p:spPr>
          <a:xfrm>
            <a:off x="7726680" y="1280160"/>
            <a:ext cx="3611880" cy="1325880"/>
          </a:xfrm>
          <a:prstGeom prst="roundRect">
            <a:avLst/>
          </a:prstGeom>
          <a:solidFill>
            <a:srgbClr val="ECF8F5"/>
          </a:solidFill>
          <a:ln>
            <a:solidFill>
              <a:srgbClr val="D7E1EA"/>
            </a:solidFill>
          </a:ln>
        </p:spPr>
      </p:sp>
      <p:sp>
        <p:nvSpPr>
          <p:cNvPr id="7" name="title-7"/>
          <p:cNvSpPr txBox="1"/>
          <p:nvPr/>
        </p:nvSpPr>
        <p:spPr>
          <a:xfrm>
            <a:off x="7891272" y="1408176"/>
            <a:ext cx="32826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推荐表述</a:t>
            </a:r>
            <a:endParaRPr lang="zh-CN"/>
          </a:p>
        </p:txBody>
      </p:sp>
      <p:sp>
        <p:nvSpPr>
          <p:cNvPr id="8" name="body-8"/>
          <p:cNvSpPr txBox="1"/>
          <p:nvPr/>
        </p:nvSpPr>
        <p:spPr>
          <a:xfrm>
            <a:off x="7891272" y="1719072"/>
            <a:ext cx="328269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v0.5a 已形成 ORB 真实特征匹配最小原型，并可驱动后端融合导航时间线。</a:t>
            </a:r>
            <a:endParaRPr lang="zh-CN"/>
          </a:p>
        </p:txBody>
      </p:sp>
      <p:sp>
        <p:nvSpPr>
          <p:cNvPr id="9" name="card-9"/>
          <p:cNvSpPr/>
          <p:nvPr/>
        </p:nvSpPr>
        <p:spPr>
          <a:xfrm>
            <a:off x="7726680" y="2926080"/>
            <a:ext cx="3611880" cy="1325880"/>
          </a:xfrm>
          <a:prstGeom prst="roundRect">
            <a:avLst/>
          </a:prstGeom>
          <a:solidFill>
            <a:srgbClr val="FFF2EE"/>
          </a:solidFill>
          <a:ln>
            <a:solidFill>
              <a:srgbClr val="D7E1EA"/>
            </a:solidFill>
          </a:ln>
        </p:spPr>
      </p:sp>
      <p:sp>
        <p:nvSpPr>
          <p:cNvPr id="10" name="title-10"/>
          <p:cNvSpPr txBox="1"/>
          <p:nvPr/>
        </p:nvSpPr>
        <p:spPr>
          <a:xfrm>
            <a:off x="7891272" y="3054096"/>
            <a:ext cx="32826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避免表述</a:t>
            </a:r>
            <a:endParaRPr lang="zh-CN"/>
          </a:p>
        </p:txBody>
      </p:sp>
      <p:sp>
        <p:nvSpPr>
          <p:cNvPr id="11" name="body-11"/>
          <p:cNvSpPr txBox="1"/>
          <p:nvPr/>
        </p:nvSpPr>
        <p:spPr>
          <a:xfrm>
            <a:off x="7891272" y="3364992"/>
            <a:ext cx="328269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已完成真实飞行视觉自主导航；系统能够直接控制真实无人机。</a:t>
            </a:r>
            <a:endParaRPr lang="zh-CN"/>
          </a:p>
        </p:txBody>
      </p:sp>
      <p:sp>
        <p:nvSpPr>
          <p:cNvPr id="12" name="footer"/>
          <p:cNvSpPr txBox="1"/>
          <p:nvPr/>
        </p:nvSpPr>
        <p:spPr>
          <a:xfrm>
            <a:off x="9829800" y="647395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zh-CN" sz="700">
                <a:solidFill>
                  <a:srgbClr val="8CA0AF"/>
                </a:solidFill>
                <a:latin typeface="Microsoft YaHei"/>
                <a:ea typeface="Microsoft YaHei"/>
              </a:rPr>
              <a:t>视觉自主导航仿真系统  |  3/12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ine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411480" y="310896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总体闭环</a:t>
            </a:r>
            <a:endParaRPr lang="zh-CN"/>
          </a:p>
        </p:txBody>
      </p:sp>
      <p:sp>
        <p:nvSpPr>
          <p:cNvPr id="4" name="subtitle"/>
          <p:cNvSpPr txBox="1"/>
          <p:nvPr/>
        </p:nvSpPr>
        <p:spPr>
          <a:xfrm>
            <a:off x="438912" y="74980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后端统一生成导航状态，前端只负责消费和展示。</a:t>
            </a:r>
            <a:endParaRPr lang="zh-CN"/>
          </a:p>
        </p:txBody>
      </p:sp>
      <p:sp>
        <p:nvSpPr>
          <p:cNvPr id="5" name="flow-5"/>
          <p:cNvSpPr/>
          <p:nvPr/>
        </p:nvSpPr>
        <p:spPr>
          <a:xfrm>
            <a:off x="594360" y="1143000"/>
            <a:ext cx="1504841" cy="621792"/>
          </a:xfrm>
          <a:prstGeom prst="roundRect">
            <a:avLst/>
          </a:prstGeom>
          <a:solidFill>
            <a:srgbClr val="EAF2FA"/>
          </a:solidFill>
          <a:ln>
            <a:solidFill>
              <a:srgbClr val="9BC2E6"/>
            </a:solidFill>
          </a:ln>
        </p:spPr>
      </p:sp>
      <p:sp>
        <p:nvSpPr>
          <p:cNvPr id="6" name="flow-text-6"/>
          <p:cNvSpPr txBox="1"/>
          <p:nvPr/>
        </p:nvSpPr>
        <p:spPr>
          <a:xfrm>
            <a:off x="649224" y="1325880"/>
            <a:ext cx="139511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72033"/>
                </a:solidFill>
                <a:latin typeface="Microsoft YaHei"/>
                <a:ea typeface="Microsoft YaHei"/>
              </a:rPr>
              <a:t>珞珈山 GIS</a:t>
            </a:r>
            <a:endParaRPr lang="zh-CN"/>
          </a:p>
        </p:txBody>
      </p:sp>
      <p:sp>
        <p:nvSpPr>
          <p:cNvPr id="7" name="flow-arrow-7"/>
          <p:cNvSpPr txBox="1"/>
          <p:nvPr/>
        </p:nvSpPr>
        <p:spPr>
          <a:xfrm>
            <a:off x="2090057" y="137160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00" b="1">
                <a:solidFill>
                  <a:srgbClr val="5C6B7A"/>
                </a:solidFill>
                <a:latin typeface="Microsoft YaHei"/>
                <a:ea typeface="Microsoft YaHei"/>
              </a:rPr>
              <a:t>&gt;</a:t>
            </a:r>
            <a:endParaRPr lang="zh-CN"/>
          </a:p>
        </p:txBody>
      </p:sp>
      <p:sp>
        <p:nvSpPr>
          <p:cNvPr id="8" name="flow-8"/>
          <p:cNvSpPr/>
          <p:nvPr/>
        </p:nvSpPr>
        <p:spPr>
          <a:xfrm>
            <a:off x="2172353" y="1143000"/>
            <a:ext cx="1504841" cy="621792"/>
          </a:xfrm>
          <a:prstGeom prst="roundRect">
            <a:avLst/>
          </a:prstGeom>
          <a:solidFill>
            <a:srgbClr val="EAF7F5"/>
          </a:solidFill>
          <a:ln>
            <a:solidFill>
              <a:srgbClr val="9BC2E6"/>
            </a:solidFill>
          </a:ln>
        </p:spPr>
      </p:sp>
      <p:sp>
        <p:nvSpPr>
          <p:cNvPr id="9" name="flow-text-9"/>
          <p:cNvSpPr txBox="1"/>
          <p:nvPr/>
        </p:nvSpPr>
        <p:spPr>
          <a:xfrm>
            <a:off x="2227217" y="1325880"/>
            <a:ext cx="139511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72033"/>
                </a:solidFill>
                <a:latin typeface="Microsoft YaHei"/>
                <a:ea typeface="Microsoft YaHei"/>
              </a:rPr>
              <a:t>参考航线</a:t>
            </a:r>
            <a:endParaRPr lang="zh-CN"/>
          </a:p>
        </p:txBody>
      </p:sp>
      <p:sp>
        <p:nvSpPr>
          <p:cNvPr id="10" name="flow-arrow-10"/>
          <p:cNvSpPr txBox="1"/>
          <p:nvPr/>
        </p:nvSpPr>
        <p:spPr>
          <a:xfrm>
            <a:off x="3668050" y="137160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00" b="1">
                <a:solidFill>
                  <a:srgbClr val="5C6B7A"/>
                </a:solidFill>
                <a:latin typeface="Microsoft YaHei"/>
                <a:ea typeface="Microsoft YaHei"/>
              </a:rPr>
              <a:t>&gt;</a:t>
            </a:r>
            <a:endParaRPr lang="zh-CN"/>
          </a:p>
        </p:txBody>
      </p:sp>
      <p:sp>
        <p:nvSpPr>
          <p:cNvPr id="11" name="flow-11"/>
          <p:cNvSpPr/>
          <p:nvPr/>
        </p:nvSpPr>
        <p:spPr>
          <a:xfrm>
            <a:off x="3750346" y="1143000"/>
            <a:ext cx="1504841" cy="621792"/>
          </a:xfrm>
          <a:prstGeom prst="roundRect">
            <a:avLst/>
          </a:prstGeom>
          <a:solidFill>
            <a:srgbClr val="EAF2FA"/>
          </a:solidFill>
          <a:ln>
            <a:solidFill>
              <a:srgbClr val="9BC2E6"/>
            </a:solidFill>
          </a:ln>
        </p:spPr>
      </p:sp>
      <p:sp>
        <p:nvSpPr>
          <p:cNvPr id="12" name="flow-text-12"/>
          <p:cNvSpPr txBox="1"/>
          <p:nvPr/>
        </p:nvSpPr>
        <p:spPr>
          <a:xfrm>
            <a:off x="3805210" y="1325880"/>
            <a:ext cx="139511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72033"/>
                </a:solidFill>
                <a:latin typeface="Microsoft YaHei"/>
                <a:ea typeface="Microsoft YaHei"/>
              </a:rPr>
              <a:t>UAV 影像帧</a:t>
            </a:r>
            <a:endParaRPr lang="zh-CN"/>
          </a:p>
        </p:txBody>
      </p:sp>
      <p:sp>
        <p:nvSpPr>
          <p:cNvPr id="13" name="flow-arrow-13"/>
          <p:cNvSpPr txBox="1"/>
          <p:nvPr/>
        </p:nvSpPr>
        <p:spPr>
          <a:xfrm>
            <a:off x="5246043" y="137160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00" b="1">
                <a:solidFill>
                  <a:srgbClr val="5C6B7A"/>
                </a:solidFill>
                <a:latin typeface="Microsoft YaHei"/>
                <a:ea typeface="Microsoft YaHei"/>
              </a:rPr>
              <a:t>&gt;</a:t>
            </a:r>
            <a:endParaRPr lang="zh-CN"/>
          </a:p>
        </p:txBody>
      </p:sp>
      <p:sp>
        <p:nvSpPr>
          <p:cNvPr id="14" name="flow-14"/>
          <p:cNvSpPr/>
          <p:nvPr/>
        </p:nvSpPr>
        <p:spPr>
          <a:xfrm>
            <a:off x="5328339" y="1143000"/>
            <a:ext cx="1504841" cy="621792"/>
          </a:xfrm>
          <a:prstGeom prst="roundRect">
            <a:avLst/>
          </a:prstGeom>
          <a:solidFill>
            <a:srgbClr val="EAF7F5"/>
          </a:solidFill>
          <a:ln>
            <a:solidFill>
              <a:srgbClr val="9BC2E6"/>
            </a:solidFill>
          </a:ln>
        </p:spPr>
      </p:sp>
      <p:sp>
        <p:nvSpPr>
          <p:cNvPr id="15" name="flow-text-15"/>
          <p:cNvSpPr txBox="1"/>
          <p:nvPr/>
        </p:nvSpPr>
        <p:spPr>
          <a:xfrm>
            <a:off x="5383203" y="1325880"/>
            <a:ext cx="139511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72033"/>
                </a:solidFill>
                <a:latin typeface="Microsoft YaHei"/>
                <a:ea typeface="Microsoft YaHei"/>
              </a:rPr>
              <a:t>ORB 匹配</a:t>
            </a:r>
            <a:endParaRPr lang="zh-CN"/>
          </a:p>
        </p:txBody>
      </p:sp>
      <p:sp>
        <p:nvSpPr>
          <p:cNvPr id="16" name="flow-arrow-16"/>
          <p:cNvSpPr txBox="1"/>
          <p:nvPr/>
        </p:nvSpPr>
        <p:spPr>
          <a:xfrm>
            <a:off x="6824037" y="137160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00" b="1">
                <a:solidFill>
                  <a:srgbClr val="5C6B7A"/>
                </a:solidFill>
                <a:latin typeface="Microsoft YaHei"/>
                <a:ea typeface="Microsoft YaHei"/>
              </a:rPr>
              <a:t>&gt;</a:t>
            </a:r>
            <a:endParaRPr lang="zh-CN"/>
          </a:p>
        </p:txBody>
      </p:sp>
      <p:sp>
        <p:nvSpPr>
          <p:cNvPr id="17" name="flow-17"/>
          <p:cNvSpPr/>
          <p:nvPr/>
        </p:nvSpPr>
        <p:spPr>
          <a:xfrm>
            <a:off x="6906333" y="1143000"/>
            <a:ext cx="1504841" cy="621792"/>
          </a:xfrm>
          <a:prstGeom prst="roundRect">
            <a:avLst/>
          </a:prstGeom>
          <a:solidFill>
            <a:srgbClr val="EAF2FA"/>
          </a:solidFill>
          <a:ln>
            <a:solidFill>
              <a:srgbClr val="9BC2E6"/>
            </a:solidFill>
          </a:ln>
        </p:spPr>
      </p:sp>
      <p:sp>
        <p:nvSpPr>
          <p:cNvPr id="18" name="flow-text-18"/>
          <p:cNvSpPr txBox="1"/>
          <p:nvPr/>
        </p:nvSpPr>
        <p:spPr>
          <a:xfrm>
            <a:off x="6961197" y="1325880"/>
            <a:ext cx="139511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72033"/>
                </a:solidFill>
                <a:latin typeface="Microsoft YaHei"/>
                <a:ea typeface="Microsoft YaHei"/>
              </a:rPr>
              <a:t>视觉位置</a:t>
            </a:r>
            <a:endParaRPr lang="zh-CN"/>
          </a:p>
        </p:txBody>
      </p:sp>
      <p:sp>
        <p:nvSpPr>
          <p:cNvPr id="19" name="flow-arrow-19"/>
          <p:cNvSpPr txBox="1"/>
          <p:nvPr/>
        </p:nvSpPr>
        <p:spPr>
          <a:xfrm>
            <a:off x="8402030" y="137160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00" b="1">
                <a:solidFill>
                  <a:srgbClr val="5C6B7A"/>
                </a:solidFill>
                <a:latin typeface="Microsoft YaHei"/>
                <a:ea typeface="Microsoft YaHei"/>
              </a:rPr>
              <a:t>&gt;</a:t>
            </a:r>
            <a:endParaRPr lang="zh-CN"/>
          </a:p>
        </p:txBody>
      </p:sp>
      <p:sp>
        <p:nvSpPr>
          <p:cNvPr id="20" name="flow-20"/>
          <p:cNvSpPr/>
          <p:nvPr/>
        </p:nvSpPr>
        <p:spPr>
          <a:xfrm>
            <a:off x="8484326" y="1143000"/>
            <a:ext cx="1504841" cy="621792"/>
          </a:xfrm>
          <a:prstGeom prst="roundRect">
            <a:avLst/>
          </a:prstGeom>
          <a:solidFill>
            <a:srgbClr val="EAF7F5"/>
          </a:solidFill>
          <a:ln>
            <a:solidFill>
              <a:srgbClr val="9BC2E6"/>
            </a:solidFill>
          </a:ln>
        </p:spPr>
      </p:sp>
      <p:sp>
        <p:nvSpPr>
          <p:cNvPr id="21" name="flow-text-21"/>
          <p:cNvSpPr txBox="1"/>
          <p:nvPr/>
        </p:nvSpPr>
        <p:spPr>
          <a:xfrm>
            <a:off x="8539190" y="1325880"/>
            <a:ext cx="139511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72033"/>
                </a:solidFill>
                <a:latin typeface="Microsoft YaHei"/>
                <a:ea typeface="Microsoft YaHei"/>
              </a:rPr>
              <a:t>融合位置</a:t>
            </a:r>
            <a:endParaRPr lang="zh-CN"/>
          </a:p>
        </p:txBody>
      </p:sp>
      <p:sp>
        <p:nvSpPr>
          <p:cNvPr id="22" name="flow-arrow-22"/>
          <p:cNvSpPr txBox="1"/>
          <p:nvPr/>
        </p:nvSpPr>
        <p:spPr>
          <a:xfrm>
            <a:off x="9980023" y="137160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00" b="1">
                <a:solidFill>
                  <a:srgbClr val="5C6B7A"/>
                </a:solidFill>
                <a:latin typeface="Microsoft YaHei"/>
                <a:ea typeface="Microsoft YaHei"/>
              </a:rPr>
              <a:t>&gt;</a:t>
            </a:r>
            <a:endParaRPr lang="zh-CN"/>
          </a:p>
        </p:txBody>
      </p:sp>
      <p:sp>
        <p:nvSpPr>
          <p:cNvPr id="23" name="flow-23"/>
          <p:cNvSpPr/>
          <p:nvPr/>
        </p:nvSpPr>
        <p:spPr>
          <a:xfrm>
            <a:off x="10062319" y="1143000"/>
            <a:ext cx="1504841" cy="621792"/>
          </a:xfrm>
          <a:prstGeom prst="roundRect">
            <a:avLst/>
          </a:prstGeom>
          <a:solidFill>
            <a:srgbClr val="EAF2FA"/>
          </a:solidFill>
          <a:ln>
            <a:solidFill>
              <a:srgbClr val="9BC2E6"/>
            </a:solidFill>
          </a:ln>
        </p:spPr>
      </p:sp>
      <p:sp>
        <p:nvSpPr>
          <p:cNvPr id="24" name="flow-text-24"/>
          <p:cNvSpPr txBox="1"/>
          <p:nvPr/>
        </p:nvSpPr>
        <p:spPr>
          <a:xfrm>
            <a:off x="10117183" y="1325880"/>
            <a:ext cx="139511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72033"/>
                </a:solidFill>
                <a:latin typeface="Microsoft YaHei"/>
                <a:ea typeface="Microsoft YaHei"/>
              </a:rPr>
              <a:t>三维飞行</a:t>
            </a:r>
            <a:endParaRPr lang="zh-CN"/>
          </a:p>
        </p:txBody>
      </p:sp>
      <p:sp>
        <p:nvSpPr>
          <p:cNvPr id="25" name="card-25"/>
          <p:cNvSpPr/>
          <p:nvPr/>
        </p:nvSpPr>
        <p:spPr>
          <a:xfrm>
            <a:off x="594360" y="251460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26" name="title-26"/>
          <p:cNvSpPr txBox="1"/>
          <p:nvPr/>
        </p:nvSpPr>
        <p:spPr>
          <a:xfrm>
            <a:off x="758952" y="2642616"/>
            <a:ext cx="30998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后端权威时间线</a:t>
            </a:r>
            <a:endParaRPr lang="zh-CN"/>
          </a:p>
        </p:txBody>
      </p:sp>
      <p:sp>
        <p:nvSpPr>
          <p:cNvPr id="27" name="body-27"/>
          <p:cNvSpPr txBox="1"/>
          <p:nvPr/>
        </p:nvSpPr>
        <p:spPr>
          <a:xfrm>
            <a:off x="758952" y="2953512"/>
            <a:ext cx="309981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VisualNavigationService 输出 reference、visual、fused、telemetry、mode 和 event。</a:t>
            </a:r>
            <a:endParaRPr lang="zh-CN"/>
          </a:p>
        </p:txBody>
      </p:sp>
      <p:sp>
        <p:nvSpPr>
          <p:cNvPr id="28" name="card-28"/>
          <p:cNvSpPr/>
          <p:nvPr/>
        </p:nvSpPr>
        <p:spPr>
          <a:xfrm>
            <a:off x="4434840" y="251460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29" name="title-29"/>
          <p:cNvSpPr txBox="1"/>
          <p:nvPr/>
        </p:nvSpPr>
        <p:spPr>
          <a:xfrm>
            <a:off x="4599432" y="2642616"/>
            <a:ext cx="30998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前端指挥舱</a:t>
            </a:r>
            <a:endParaRPr lang="zh-CN"/>
          </a:p>
        </p:txBody>
      </p:sp>
      <p:sp>
        <p:nvSpPr>
          <p:cNvPr id="30" name="body-30"/>
          <p:cNvSpPr txBox="1"/>
          <p:nvPr/>
        </p:nvSpPr>
        <p:spPr>
          <a:xfrm>
            <a:off x="4599432" y="2953512"/>
            <a:ext cx="309981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SuperMapScene、视觉面板、遥测、事件流和报告消费同一条时间线。</a:t>
            </a:r>
            <a:endParaRPr lang="zh-CN"/>
          </a:p>
        </p:txBody>
      </p:sp>
      <p:sp>
        <p:nvSpPr>
          <p:cNvPr id="31" name="card-31"/>
          <p:cNvSpPr/>
          <p:nvPr/>
        </p:nvSpPr>
        <p:spPr>
          <a:xfrm>
            <a:off x="8275320" y="251460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32" name="title-32"/>
          <p:cNvSpPr txBox="1"/>
          <p:nvPr/>
        </p:nvSpPr>
        <p:spPr>
          <a:xfrm>
            <a:off x="8439912" y="2642616"/>
            <a:ext cx="30998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支撑服务</a:t>
            </a:r>
            <a:endParaRPr lang="zh-CN"/>
          </a:p>
        </p:txBody>
      </p:sp>
      <p:sp>
        <p:nvSpPr>
          <p:cNvPr id="33" name="body-33"/>
          <p:cNvSpPr txBox="1"/>
          <p:nvPr/>
        </p:nvSpPr>
        <p:spPr>
          <a:xfrm>
            <a:off x="8439912" y="2953512"/>
            <a:ext cx="309981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航线规划、风险校验和动态重规划围绕 fused_position 提供安全约束。</a:t>
            </a:r>
            <a:endParaRPr lang="zh-CN"/>
          </a:p>
        </p:txBody>
      </p:sp>
      <p:sp>
        <p:nvSpPr>
          <p:cNvPr id="34" name="footer"/>
          <p:cNvSpPr txBox="1"/>
          <p:nvPr/>
        </p:nvSpPr>
        <p:spPr>
          <a:xfrm>
            <a:off x="9829800" y="647395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zh-CN" sz="700">
                <a:solidFill>
                  <a:srgbClr val="8CA0AF"/>
                </a:solidFill>
                <a:latin typeface="Microsoft YaHei"/>
                <a:ea typeface="Microsoft YaHei"/>
              </a:rPr>
              <a:t>视觉自主导航仿真系统  |  4/12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ine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411480" y="310896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SuperMap GIS 底座</a:t>
            </a:r>
            <a:endParaRPr lang="zh-CN"/>
          </a:p>
        </p:txBody>
      </p:sp>
      <p:sp>
        <p:nvSpPr>
          <p:cNvPr id="4" name="subtitle"/>
          <p:cNvSpPr txBox="1"/>
          <p:nvPr/>
        </p:nvSpPr>
        <p:spPr>
          <a:xfrm>
            <a:off x="438912" y="74980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珞珈山 scene/map/data 服务已发布并通过脚本门禁。</a:t>
            </a:r>
            <a:endParaRPr lang="zh-CN"/>
          </a:p>
        </p:txBody>
      </p:sp>
      <p:sp>
        <p:nvSpPr>
          <p:cNvPr id="5" name="bullets"/>
          <p:cNvSpPr txBox="1"/>
          <p:nvPr/>
        </p:nvSpPr>
        <p:spPr>
          <a:xfrm>
            <a:off x="731520" y="1234440"/>
            <a:ext cx="6583680" cy="3749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400">
                <a:solidFill>
                  <a:srgbClr val="172033"/>
                </a:solidFill>
                <a:latin typeface="Microsoft YaHei"/>
                <a:ea typeface="Microsoft YaHei"/>
              </a:rPr>
              <a:t>• iDesktopX 构建珞珈山工作空间。</a:t>
            </a:r>
            <a:endParaRPr lang="zh-CN"/>
          </a:p>
          <a:p>
            <a:pPr/>
            <a:r>
              <a:rPr lang="zh-CN" sz="1400">
                <a:solidFill>
                  <a:srgbClr val="172033"/>
                </a:solidFill>
                <a:latin typeface="Microsoft YaHei"/>
                <a:ea typeface="Microsoft YaHei"/>
              </a:rPr>
              <a:t>• iServer 发布 3D/map/data 服务。</a:t>
            </a:r>
            <a:endParaRPr lang="zh-CN"/>
          </a:p>
          <a:p>
            <a:pPr/>
            <a:r>
              <a:rPr lang="zh-CN" sz="1400">
                <a:solidFill>
                  <a:srgbClr val="172033"/>
                </a:solidFill>
                <a:latin typeface="Microsoft YaHei"/>
                <a:ea typeface="Microsoft YaHei"/>
              </a:rPr>
              <a:t>• iClient3D 承载正射影像、DEM、建筑和轨迹。</a:t>
            </a:r>
            <a:endParaRPr lang="zh-CN"/>
          </a:p>
          <a:p>
            <a:pPr/>
            <a:r>
              <a:rPr lang="zh-CN" sz="1400">
                <a:solidFill>
                  <a:srgbClr val="172033"/>
                </a:solidFill>
                <a:latin typeface="Microsoft YaHei"/>
                <a:ea typeface="Microsoft YaHei"/>
              </a:rPr>
              <a:t>• 后端实时探测 SuperMap 服务状态。</a:t>
            </a:r>
            <a:endParaRPr lang="zh-CN"/>
          </a:p>
        </p:txBody>
      </p:sp>
      <p:pic>
        <p:nvPicPr>
          <p:cNvPr id="6" name="frontend_luojia_scene_headl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15568"/>
            <a:ext cx="6675120" cy="4434840"/>
          </a:xfrm>
          <a:prstGeom prst="rect">
            <a:avLst/>
          </a:prstGeom>
        </p:spPr>
      </p:pic>
      <p:sp>
        <p:nvSpPr>
          <p:cNvPr id="7" name="metric-7"/>
          <p:cNvSpPr/>
          <p:nvPr/>
        </p:nvSpPr>
        <p:spPr>
          <a:xfrm>
            <a:off x="7726680" y="3886200"/>
            <a:ext cx="1097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8" name="metric-value-8"/>
          <p:cNvSpPr txBox="1"/>
          <p:nvPr/>
        </p:nvSpPr>
        <p:spPr>
          <a:xfrm>
            <a:off x="7726680" y="399592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2AA876"/>
                </a:solidFill>
                <a:latin typeface="Microsoft YaHei"/>
                <a:ea typeface="Microsoft YaHei"/>
              </a:rPr>
              <a:t>3</a:t>
            </a:r>
            <a:endParaRPr lang="zh-CN"/>
          </a:p>
        </p:txBody>
      </p:sp>
      <p:sp>
        <p:nvSpPr>
          <p:cNvPr id="9" name="metric-label-9"/>
          <p:cNvSpPr txBox="1"/>
          <p:nvPr/>
        </p:nvSpPr>
        <p:spPr>
          <a:xfrm>
            <a:off x="7772400" y="433425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scene/map/data verified</a:t>
            </a:r>
            <a:endParaRPr lang="zh-CN"/>
          </a:p>
        </p:txBody>
      </p:sp>
      <p:sp>
        <p:nvSpPr>
          <p:cNvPr id="10" name="metric-10"/>
          <p:cNvSpPr/>
          <p:nvPr/>
        </p:nvSpPr>
        <p:spPr>
          <a:xfrm>
            <a:off x="9006840" y="3886200"/>
            <a:ext cx="1097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11" name="metric-value-11"/>
          <p:cNvSpPr txBox="1"/>
          <p:nvPr/>
        </p:nvSpPr>
        <p:spPr>
          <a:xfrm>
            <a:off x="9006840" y="399592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1F5E8C"/>
                </a:solidFill>
                <a:latin typeface="Microsoft YaHei"/>
                <a:ea typeface="Microsoft YaHei"/>
              </a:rPr>
              <a:t>4</a:t>
            </a:r>
            <a:endParaRPr lang="zh-CN"/>
          </a:p>
        </p:txBody>
      </p:sp>
      <p:sp>
        <p:nvSpPr>
          <p:cNvPr id="12" name="metric-label-12"/>
          <p:cNvSpPr txBox="1"/>
          <p:nvPr/>
        </p:nvSpPr>
        <p:spPr>
          <a:xfrm>
            <a:off x="9052560" y="433425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珞珈山图层</a:t>
            </a:r>
            <a:endParaRPr lang="zh-CN"/>
          </a:p>
        </p:txBody>
      </p:sp>
      <p:sp>
        <p:nvSpPr>
          <p:cNvPr id="13" name="metric-13"/>
          <p:cNvSpPr/>
          <p:nvPr/>
        </p:nvSpPr>
        <p:spPr>
          <a:xfrm>
            <a:off x="10287000" y="3886200"/>
            <a:ext cx="1097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14" name="metric-value-14"/>
          <p:cNvSpPr txBox="1"/>
          <p:nvPr/>
        </p:nvSpPr>
        <p:spPr>
          <a:xfrm>
            <a:off x="10287000" y="399592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1F9D8A"/>
                </a:solidFill>
                <a:latin typeface="Microsoft YaHei"/>
                <a:ea typeface="Microsoft YaHei"/>
              </a:rPr>
              <a:t>0</a:t>
            </a:r>
            <a:endParaRPr lang="zh-CN"/>
          </a:p>
        </p:txBody>
      </p:sp>
      <p:sp>
        <p:nvSpPr>
          <p:cNvPr id="15" name="metric-label-15"/>
          <p:cNvSpPr txBox="1"/>
          <p:nvPr/>
        </p:nvSpPr>
        <p:spPr>
          <a:xfrm>
            <a:off x="10332720" y="433425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真实飞控接入</a:t>
            </a:r>
            <a:endParaRPr lang="zh-CN"/>
          </a:p>
        </p:txBody>
      </p:sp>
      <p:sp>
        <p:nvSpPr>
          <p:cNvPr id="16" name="footer"/>
          <p:cNvSpPr txBox="1"/>
          <p:nvPr/>
        </p:nvSpPr>
        <p:spPr>
          <a:xfrm>
            <a:off x="9829800" y="647395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zh-CN" sz="700">
                <a:solidFill>
                  <a:srgbClr val="8CA0AF"/>
                </a:solidFill>
                <a:latin typeface="Microsoft YaHei"/>
                <a:ea typeface="Microsoft YaHei"/>
              </a:rPr>
              <a:t>视觉自主导航仿真系统  |  5/12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ine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411480" y="310896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视觉定位 v0.5a：OpenCV ORB</a:t>
            </a:r>
            <a:endParaRPr lang="zh-CN"/>
          </a:p>
        </p:txBody>
      </p:sp>
      <p:sp>
        <p:nvSpPr>
          <p:cNvPr id="4" name="subtitle"/>
          <p:cNvSpPr txBox="1"/>
          <p:nvPr/>
        </p:nvSpPr>
        <p:spPr>
          <a:xfrm>
            <a:off x="438912" y="74980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半真实 UAV 帧与候选合成视图进行真实特征匹配。</a:t>
            </a:r>
            <a:endParaRPr lang="zh-CN"/>
          </a:p>
        </p:txBody>
      </p:sp>
      <p:sp>
        <p:nvSpPr>
          <p:cNvPr id="5" name="bullets"/>
          <p:cNvSpPr txBox="1"/>
          <p:nvPr/>
        </p:nvSpPr>
        <p:spPr>
          <a:xfrm>
            <a:off x="731520" y="1234440"/>
            <a:ext cx="6583680" cy="3749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400">
                <a:solidFill>
                  <a:srgbClr val="172033"/>
                </a:solidFill>
                <a:latin typeface="Microsoft YaHei"/>
                <a:ea typeface="Microsoft YaHei"/>
              </a:rPr>
              <a:t>• 半真实 UAV 帧：航向旋转、FOV 裁剪、镜头畸变、光照扰动。</a:t>
            </a:r>
            <a:endParaRPr lang="zh-CN"/>
          </a:p>
          <a:p>
            <a:pPr/>
            <a:r>
              <a:rPr lang="zh-CN" sz="1400">
                <a:solidFill>
                  <a:srgbClr val="172033"/>
                </a:solidFill>
                <a:latin typeface="Microsoft YaHei"/>
                <a:ea typeface="Microsoft YaHei"/>
              </a:rPr>
              <a:t>• 候选合成视图：正射影像瓦片结合 DEM、建筑和相机上下文。</a:t>
            </a:r>
            <a:endParaRPr lang="zh-CN"/>
          </a:p>
          <a:p>
            <a:pPr/>
            <a:r>
              <a:rPr lang="zh-CN" sz="1400">
                <a:solidFill>
                  <a:srgbClr val="172033"/>
                </a:solidFill>
                <a:latin typeface="Microsoft YaHei"/>
                <a:ea typeface="Microsoft YaHei"/>
              </a:rPr>
              <a:t>• ORB 关键点和描述子，BFMatcher/Hamming 匹配。</a:t>
            </a:r>
            <a:endParaRPr lang="zh-CN"/>
          </a:p>
          <a:p>
            <a:pPr/>
            <a:r>
              <a:rPr lang="zh-CN" sz="1400">
                <a:solidFill>
                  <a:srgbClr val="172033"/>
                </a:solidFill>
                <a:latin typeface="Microsoft YaHei"/>
                <a:ea typeface="Microsoft YaHei"/>
              </a:rPr>
              <a:t>• RANSAC 估计几何关系，输出位置、置信度、误差半径。</a:t>
            </a:r>
            <a:endParaRPr lang="zh-CN"/>
          </a:p>
        </p:txBody>
      </p:sp>
      <p:sp>
        <p:nvSpPr>
          <p:cNvPr id="6" name="metric-6"/>
          <p:cNvSpPr/>
          <p:nvPr/>
        </p:nvSpPr>
        <p:spPr>
          <a:xfrm>
            <a:off x="822960" y="4937760"/>
            <a:ext cx="1417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7" name="metric-value-7"/>
          <p:cNvSpPr txBox="1"/>
          <p:nvPr/>
        </p:nvSpPr>
        <p:spPr>
          <a:xfrm>
            <a:off x="822960" y="5047488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2AA876"/>
                </a:solidFill>
                <a:latin typeface="Microsoft YaHei"/>
                <a:ea typeface="Microsoft YaHei"/>
              </a:rPr>
              <a:t>6/6</a:t>
            </a:r>
            <a:endParaRPr lang="zh-CN"/>
          </a:p>
        </p:txBody>
      </p:sp>
      <p:sp>
        <p:nvSpPr>
          <p:cNvPr id="8" name="metric-label-8"/>
          <p:cNvSpPr txBox="1"/>
          <p:nvPr/>
        </p:nvSpPr>
        <p:spPr>
          <a:xfrm>
            <a:off x="868680" y="5385816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半真实帧定位成功</a:t>
            </a:r>
            <a:endParaRPr lang="zh-CN"/>
          </a:p>
        </p:txBody>
      </p:sp>
      <p:sp>
        <p:nvSpPr>
          <p:cNvPr id="9" name="metric-9"/>
          <p:cNvSpPr/>
          <p:nvPr/>
        </p:nvSpPr>
        <p:spPr>
          <a:xfrm>
            <a:off x="2423160" y="4937760"/>
            <a:ext cx="1417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10" name="metric-value-10"/>
          <p:cNvSpPr txBox="1"/>
          <p:nvPr/>
        </p:nvSpPr>
        <p:spPr>
          <a:xfrm>
            <a:off x="2423160" y="5047488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1F5E8C"/>
                </a:solidFill>
                <a:latin typeface="Microsoft YaHei"/>
                <a:ea typeface="Microsoft YaHei"/>
              </a:rPr>
              <a:t>27</a:t>
            </a:r>
            <a:endParaRPr lang="zh-CN"/>
          </a:p>
        </p:txBody>
      </p:sp>
      <p:sp>
        <p:nvSpPr>
          <p:cNvPr id="11" name="metric-label-11"/>
          <p:cNvSpPr txBox="1"/>
          <p:nvPr/>
        </p:nvSpPr>
        <p:spPr>
          <a:xfrm>
            <a:off x="2468880" y="5385816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ORB 视觉观测</a:t>
            </a:r>
            <a:endParaRPr lang="zh-CN"/>
          </a:p>
        </p:txBody>
      </p:sp>
      <p:sp>
        <p:nvSpPr>
          <p:cNvPr id="12" name="metric-12"/>
          <p:cNvSpPr/>
          <p:nvPr/>
        </p:nvSpPr>
        <p:spPr>
          <a:xfrm>
            <a:off x="4023360" y="4937760"/>
            <a:ext cx="1417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13" name="metric-value-13"/>
          <p:cNvSpPr txBox="1"/>
          <p:nvPr/>
        </p:nvSpPr>
        <p:spPr>
          <a:xfrm>
            <a:off x="4023360" y="5047488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1F9D8A"/>
                </a:solidFill>
                <a:latin typeface="Microsoft YaHei"/>
                <a:ea typeface="Microsoft YaHei"/>
              </a:rPr>
              <a:t>0.775</a:t>
            </a:r>
            <a:endParaRPr lang="zh-CN"/>
          </a:p>
        </p:txBody>
      </p:sp>
      <p:sp>
        <p:nvSpPr>
          <p:cNvPr id="14" name="metric-label-14"/>
          <p:cNvSpPr txBox="1"/>
          <p:nvPr/>
        </p:nvSpPr>
        <p:spPr>
          <a:xfrm>
            <a:off x="4069080" y="5385816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平均置信度</a:t>
            </a:r>
            <a:endParaRPr lang="zh-CN"/>
          </a:p>
        </p:txBody>
      </p:sp>
      <p:sp>
        <p:nvSpPr>
          <p:cNvPr id="15" name="metric-15"/>
          <p:cNvSpPr/>
          <p:nvPr/>
        </p:nvSpPr>
        <p:spPr>
          <a:xfrm>
            <a:off x="5623560" y="4937760"/>
            <a:ext cx="1417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16" name="metric-value-16"/>
          <p:cNvSpPr txBox="1"/>
          <p:nvPr/>
        </p:nvSpPr>
        <p:spPr>
          <a:xfrm>
            <a:off x="5623560" y="5047488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F4A261"/>
                </a:solidFill>
                <a:latin typeface="Microsoft YaHei"/>
                <a:ea typeface="Microsoft YaHei"/>
              </a:rPr>
              <a:t>40.6m</a:t>
            </a:r>
            <a:endParaRPr lang="zh-CN"/>
          </a:p>
        </p:txBody>
      </p:sp>
      <p:sp>
        <p:nvSpPr>
          <p:cNvPr id="17" name="metric-label-17"/>
          <p:cNvSpPr txBox="1"/>
          <p:nvPr/>
        </p:nvSpPr>
        <p:spPr>
          <a:xfrm>
            <a:off x="5669280" y="5385816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平均误差半径</a:t>
            </a:r>
            <a:endParaRPr lang="zh-CN"/>
          </a:p>
        </p:txBody>
      </p:sp>
      <p:sp>
        <p:nvSpPr>
          <p:cNvPr id="18" name="footer"/>
          <p:cNvSpPr txBox="1"/>
          <p:nvPr/>
        </p:nvSpPr>
        <p:spPr>
          <a:xfrm>
            <a:off x="9829800" y="647395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zh-CN" sz="700">
                <a:solidFill>
                  <a:srgbClr val="8CA0AF"/>
                </a:solidFill>
                <a:latin typeface="Microsoft YaHei"/>
                <a:ea typeface="Microsoft YaHei"/>
              </a:rPr>
              <a:t>视觉自主导航仿真系统  |  6/12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ine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411480" y="310896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后端融合导航状态</a:t>
            </a:r>
            <a:endParaRPr lang="zh-CN"/>
          </a:p>
        </p:txBody>
      </p:sp>
      <p:sp>
        <p:nvSpPr>
          <p:cNvPr id="4" name="subtitle"/>
          <p:cNvSpPr txBox="1"/>
          <p:nvPr/>
        </p:nvSpPr>
        <p:spPr>
          <a:xfrm>
            <a:off x="438912" y="74980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fused_position 是三维无人机和遥测面板的唯一权威位置。</a:t>
            </a:r>
            <a:endParaRPr lang="zh-CN"/>
          </a:p>
        </p:txBody>
      </p:sp>
      <p:sp>
        <p:nvSpPr>
          <p:cNvPr id="5" name="flow-5"/>
          <p:cNvSpPr/>
          <p:nvPr/>
        </p:nvSpPr>
        <p:spPr>
          <a:xfrm>
            <a:off x="594360" y="4251960"/>
            <a:ext cx="2062886" cy="621792"/>
          </a:xfrm>
          <a:prstGeom prst="roundRect">
            <a:avLst/>
          </a:prstGeom>
          <a:solidFill>
            <a:srgbClr val="EAF2FA"/>
          </a:solidFill>
          <a:ln>
            <a:solidFill>
              <a:srgbClr val="9BC2E6"/>
            </a:solidFill>
          </a:ln>
        </p:spPr>
      </p:sp>
      <p:sp>
        <p:nvSpPr>
          <p:cNvPr id="6" name="flow-text-6"/>
          <p:cNvSpPr txBox="1"/>
          <p:nvPr/>
        </p:nvSpPr>
        <p:spPr>
          <a:xfrm>
            <a:off x="649224" y="4434840"/>
            <a:ext cx="195315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72033"/>
                </a:solidFill>
                <a:latin typeface="Microsoft YaHei"/>
                <a:ea typeface="Microsoft YaHei"/>
              </a:rPr>
              <a:t>距离参数化</a:t>
            </a:r>
            <a:endParaRPr lang="zh-CN"/>
          </a:p>
        </p:txBody>
      </p:sp>
      <p:sp>
        <p:nvSpPr>
          <p:cNvPr id="7" name="flow-arrow-7"/>
          <p:cNvSpPr txBox="1"/>
          <p:nvPr/>
        </p:nvSpPr>
        <p:spPr>
          <a:xfrm>
            <a:off x="2648102" y="448056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00" b="1">
                <a:solidFill>
                  <a:srgbClr val="5C6B7A"/>
                </a:solidFill>
                <a:latin typeface="Microsoft YaHei"/>
                <a:ea typeface="Microsoft YaHei"/>
              </a:rPr>
              <a:t>&gt;</a:t>
            </a:r>
            <a:endParaRPr lang="zh-CN"/>
          </a:p>
        </p:txBody>
      </p:sp>
      <p:sp>
        <p:nvSpPr>
          <p:cNvPr id="8" name="flow-8"/>
          <p:cNvSpPr/>
          <p:nvPr/>
        </p:nvSpPr>
        <p:spPr>
          <a:xfrm>
            <a:off x="2730398" y="4251960"/>
            <a:ext cx="2062886" cy="621792"/>
          </a:xfrm>
          <a:prstGeom prst="roundRect">
            <a:avLst/>
          </a:prstGeom>
          <a:solidFill>
            <a:srgbClr val="EAF7F5"/>
          </a:solidFill>
          <a:ln>
            <a:solidFill>
              <a:srgbClr val="9BC2E6"/>
            </a:solidFill>
          </a:ln>
        </p:spPr>
      </p:sp>
      <p:sp>
        <p:nvSpPr>
          <p:cNvPr id="9" name="flow-text-9"/>
          <p:cNvSpPr txBox="1"/>
          <p:nvPr/>
        </p:nvSpPr>
        <p:spPr>
          <a:xfrm>
            <a:off x="2785262" y="4434840"/>
            <a:ext cx="195315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72033"/>
                </a:solidFill>
                <a:latin typeface="Microsoft YaHei"/>
                <a:ea typeface="Microsoft YaHei"/>
              </a:rPr>
              <a:t>圆角平滑</a:t>
            </a:r>
            <a:endParaRPr lang="zh-CN"/>
          </a:p>
        </p:txBody>
      </p:sp>
      <p:sp>
        <p:nvSpPr>
          <p:cNvPr id="10" name="flow-arrow-10"/>
          <p:cNvSpPr txBox="1"/>
          <p:nvPr/>
        </p:nvSpPr>
        <p:spPr>
          <a:xfrm>
            <a:off x="4784141" y="448056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00" b="1">
                <a:solidFill>
                  <a:srgbClr val="5C6B7A"/>
                </a:solidFill>
                <a:latin typeface="Microsoft YaHei"/>
                <a:ea typeface="Microsoft YaHei"/>
              </a:rPr>
              <a:t>&gt;</a:t>
            </a:r>
            <a:endParaRPr lang="zh-CN"/>
          </a:p>
        </p:txBody>
      </p:sp>
      <p:sp>
        <p:nvSpPr>
          <p:cNvPr id="11" name="flow-11"/>
          <p:cNvSpPr/>
          <p:nvPr/>
        </p:nvSpPr>
        <p:spPr>
          <a:xfrm>
            <a:off x="4866437" y="4251960"/>
            <a:ext cx="2062886" cy="621792"/>
          </a:xfrm>
          <a:prstGeom prst="roundRect">
            <a:avLst/>
          </a:prstGeom>
          <a:solidFill>
            <a:srgbClr val="EAF2FA"/>
          </a:solidFill>
          <a:ln>
            <a:solidFill>
              <a:srgbClr val="9BC2E6"/>
            </a:solidFill>
          </a:ln>
        </p:spPr>
      </p:sp>
      <p:sp>
        <p:nvSpPr>
          <p:cNvPr id="12" name="flow-text-12"/>
          <p:cNvSpPr txBox="1"/>
          <p:nvPr/>
        </p:nvSpPr>
        <p:spPr>
          <a:xfrm>
            <a:off x="4921301" y="4434840"/>
            <a:ext cx="195315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72033"/>
                </a:solidFill>
                <a:latin typeface="Microsoft YaHei"/>
                <a:ea typeface="Microsoft YaHei"/>
              </a:rPr>
              <a:t>视觉修正渐入</a:t>
            </a:r>
            <a:endParaRPr lang="zh-CN"/>
          </a:p>
        </p:txBody>
      </p:sp>
      <p:sp>
        <p:nvSpPr>
          <p:cNvPr id="13" name="flow-arrow-13"/>
          <p:cNvSpPr txBox="1"/>
          <p:nvPr/>
        </p:nvSpPr>
        <p:spPr>
          <a:xfrm>
            <a:off x="6920179" y="448056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00" b="1">
                <a:solidFill>
                  <a:srgbClr val="5C6B7A"/>
                </a:solidFill>
                <a:latin typeface="Microsoft YaHei"/>
                <a:ea typeface="Microsoft YaHei"/>
              </a:rPr>
              <a:t>&gt;</a:t>
            </a:r>
            <a:endParaRPr lang="zh-CN"/>
          </a:p>
        </p:txBody>
      </p:sp>
      <p:sp>
        <p:nvSpPr>
          <p:cNvPr id="14" name="flow-14"/>
          <p:cNvSpPr/>
          <p:nvPr/>
        </p:nvSpPr>
        <p:spPr>
          <a:xfrm>
            <a:off x="7002475" y="4251960"/>
            <a:ext cx="2062886" cy="621792"/>
          </a:xfrm>
          <a:prstGeom prst="roundRect">
            <a:avLst/>
          </a:prstGeom>
          <a:solidFill>
            <a:srgbClr val="EAF7F5"/>
          </a:solidFill>
          <a:ln>
            <a:solidFill>
              <a:srgbClr val="9BC2E6"/>
            </a:solidFill>
          </a:ln>
        </p:spPr>
      </p:sp>
      <p:sp>
        <p:nvSpPr>
          <p:cNvPr id="15" name="flow-text-15"/>
          <p:cNvSpPr txBox="1"/>
          <p:nvPr/>
        </p:nvSpPr>
        <p:spPr>
          <a:xfrm>
            <a:off x="7057339" y="4434840"/>
            <a:ext cx="195315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72033"/>
                </a:solidFill>
                <a:latin typeface="Microsoft YaHei"/>
                <a:ea typeface="Microsoft YaHei"/>
              </a:rPr>
              <a:t>限速与航向门禁</a:t>
            </a:r>
            <a:endParaRPr lang="zh-CN"/>
          </a:p>
        </p:txBody>
      </p:sp>
      <p:sp>
        <p:nvSpPr>
          <p:cNvPr id="16" name="flow-arrow-16"/>
          <p:cNvSpPr txBox="1"/>
          <p:nvPr/>
        </p:nvSpPr>
        <p:spPr>
          <a:xfrm>
            <a:off x="9056218" y="4480560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000" b="1">
                <a:solidFill>
                  <a:srgbClr val="5C6B7A"/>
                </a:solidFill>
                <a:latin typeface="Microsoft YaHei"/>
                <a:ea typeface="Microsoft YaHei"/>
              </a:rPr>
              <a:t>&gt;</a:t>
            </a:r>
            <a:endParaRPr lang="zh-CN"/>
          </a:p>
        </p:txBody>
      </p:sp>
      <p:sp>
        <p:nvSpPr>
          <p:cNvPr id="17" name="flow-17"/>
          <p:cNvSpPr/>
          <p:nvPr/>
        </p:nvSpPr>
        <p:spPr>
          <a:xfrm>
            <a:off x="9138514" y="4251960"/>
            <a:ext cx="2062886" cy="621792"/>
          </a:xfrm>
          <a:prstGeom prst="roundRect">
            <a:avLst/>
          </a:prstGeom>
          <a:solidFill>
            <a:srgbClr val="EAF2FA"/>
          </a:solidFill>
          <a:ln>
            <a:solidFill>
              <a:srgbClr val="9BC2E6"/>
            </a:solidFill>
          </a:ln>
        </p:spPr>
      </p:sp>
      <p:sp>
        <p:nvSpPr>
          <p:cNvPr id="18" name="flow-text-18"/>
          <p:cNvSpPr txBox="1"/>
          <p:nvPr/>
        </p:nvSpPr>
        <p:spPr>
          <a:xfrm>
            <a:off x="9193378" y="4434840"/>
            <a:ext cx="195315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800" b="1">
                <a:solidFill>
                  <a:srgbClr val="172033"/>
                </a:solidFill>
                <a:latin typeface="Microsoft YaHei"/>
                <a:ea typeface="Microsoft YaHei"/>
              </a:rPr>
              <a:t>连续播放</a:t>
            </a:r>
            <a:endParaRPr lang="zh-CN"/>
          </a:p>
        </p:txBody>
      </p:sp>
      <p:sp>
        <p:nvSpPr>
          <p:cNvPr id="19" name="card-19"/>
          <p:cNvSpPr/>
          <p:nvPr/>
        </p:nvSpPr>
        <p:spPr>
          <a:xfrm>
            <a:off x="685800" y="1234440"/>
            <a:ext cx="32918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20" name="title-20"/>
          <p:cNvSpPr txBox="1"/>
          <p:nvPr/>
        </p:nvSpPr>
        <p:spPr>
          <a:xfrm>
            <a:off x="850392" y="1362456"/>
            <a:ext cx="296265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reference_position</a:t>
            </a:r>
            <a:endParaRPr lang="zh-CN"/>
          </a:p>
        </p:txBody>
      </p:sp>
      <p:sp>
        <p:nvSpPr>
          <p:cNvPr id="21" name="body-21"/>
          <p:cNvSpPr txBox="1"/>
          <p:nvPr/>
        </p:nvSpPr>
        <p:spPr>
          <a:xfrm>
            <a:off x="850392" y="1673352"/>
            <a:ext cx="2962656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参考航线位置，用于任务目标、偏差计算和安全约束。</a:t>
            </a:r>
            <a:endParaRPr lang="zh-CN"/>
          </a:p>
        </p:txBody>
      </p:sp>
      <p:sp>
        <p:nvSpPr>
          <p:cNvPr id="22" name="card-22"/>
          <p:cNvSpPr/>
          <p:nvPr/>
        </p:nvSpPr>
        <p:spPr>
          <a:xfrm>
            <a:off x="4434840" y="1234440"/>
            <a:ext cx="32918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23" name="title-23"/>
          <p:cNvSpPr txBox="1"/>
          <p:nvPr/>
        </p:nvSpPr>
        <p:spPr>
          <a:xfrm>
            <a:off x="4599432" y="1362456"/>
            <a:ext cx="296265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visual_position</a:t>
            </a:r>
            <a:endParaRPr lang="zh-CN"/>
          </a:p>
        </p:txBody>
      </p:sp>
      <p:sp>
        <p:nvSpPr>
          <p:cNvPr id="24" name="body-24"/>
          <p:cNvSpPr txBox="1"/>
          <p:nvPr/>
        </p:nvSpPr>
        <p:spPr>
          <a:xfrm>
            <a:off x="4599432" y="1673352"/>
            <a:ext cx="2962656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来自 ORB 视觉定位，包含置信度、误差半径和匹配证据。</a:t>
            </a:r>
            <a:endParaRPr lang="zh-CN"/>
          </a:p>
        </p:txBody>
      </p:sp>
      <p:sp>
        <p:nvSpPr>
          <p:cNvPr id="25" name="card-25"/>
          <p:cNvSpPr/>
          <p:nvPr/>
        </p:nvSpPr>
        <p:spPr>
          <a:xfrm>
            <a:off x="8183880" y="1234440"/>
            <a:ext cx="3291840" cy="1170432"/>
          </a:xfrm>
          <a:prstGeom prst="roundRect">
            <a:avLst/>
          </a:prstGeom>
          <a:solidFill>
            <a:srgbClr val="ECF8F5"/>
          </a:solidFill>
          <a:ln>
            <a:solidFill>
              <a:srgbClr val="D7E1EA"/>
            </a:solidFill>
          </a:ln>
        </p:spPr>
      </p:sp>
      <p:sp>
        <p:nvSpPr>
          <p:cNvPr id="26" name="title-26"/>
          <p:cNvSpPr txBox="1"/>
          <p:nvPr/>
        </p:nvSpPr>
        <p:spPr>
          <a:xfrm>
            <a:off x="8348472" y="1362456"/>
            <a:ext cx="296265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fused_position</a:t>
            </a:r>
            <a:endParaRPr lang="zh-CN"/>
          </a:p>
        </p:txBody>
      </p:sp>
      <p:sp>
        <p:nvSpPr>
          <p:cNvPr id="27" name="body-27"/>
          <p:cNvSpPr txBox="1"/>
          <p:nvPr/>
        </p:nvSpPr>
        <p:spPr>
          <a:xfrm>
            <a:off x="8348472" y="1673352"/>
            <a:ext cx="2962656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后端融合后的导航位置，驱动 UAV 连续飞行和遥测状态。</a:t>
            </a:r>
            <a:endParaRPr lang="zh-CN"/>
          </a:p>
        </p:txBody>
      </p:sp>
      <p:sp>
        <p:nvSpPr>
          <p:cNvPr id="28" name="metric-28"/>
          <p:cNvSpPr/>
          <p:nvPr/>
        </p:nvSpPr>
        <p:spPr>
          <a:xfrm>
            <a:off x="2194560" y="4709160"/>
            <a:ext cx="1828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29" name="metric-value-29"/>
          <p:cNvSpPr txBox="1"/>
          <p:nvPr/>
        </p:nvSpPr>
        <p:spPr>
          <a:xfrm>
            <a:off x="2194560" y="48188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2AA876"/>
                </a:solidFill>
                <a:latin typeface="Microsoft YaHei"/>
                <a:ea typeface="Microsoft YaHei"/>
              </a:rPr>
              <a:t>14.48°</a:t>
            </a:r>
            <a:endParaRPr lang="zh-CN"/>
          </a:p>
        </p:txBody>
      </p:sp>
      <p:sp>
        <p:nvSpPr>
          <p:cNvPr id="30" name="metric-label-30"/>
          <p:cNvSpPr txBox="1"/>
          <p:nvPr/>
        </p:nvSpPr>
        <p:spPr>
          <a:xfrm>
            <a:off x="2240280" y="5157216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最大单步航向变化</a:t>
            </a:r>
            <a:endParaRPr lang="zh-CN"/>
          </a:p>
        </p:txBody>
      </p:sp>
      <p:sp>
        <p:nvSpPr>
          <p:cNvPr id="31" name="metric-31"/>
          <p:cNvSpPr/>
          <p:nvPr/>
        </p:nvSpPr>
        <p:spPr>
          <a:xfrm>
            <a:off x="4572000" y="4709160"/>
            <a:ext cx="1828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32" name="metric-value-32"/>
          <p:cNvSpPr txBox="1"/>
          <p:nvPr/>
        </p:nvSpPr>
        <p:spPr>
          <a:xfrm>
            <a:off x="4572000" y="48188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1F5E8C"/>
                </a:solidFill>
                <a:latin typeface="Microsoft YaHei"/>
                <a:ea typeface="Microsoft YaHei"/>
              </a:rPr>
              <a:t>9.03m/s</a:t>
            </a:r>
            <a:endParaRPr lang="zh-CN"/>
          </a:p>
        </p:txBody>
      </p:sp>
      <p:sp>
        <p:nvSpPr>
          <p:cNvPr id="33" name="metric-label-33"/>
          <p:cNvSpPr txBox="1"/>
          <p:nvPr/>
        </p:nvSpPr>
        <p:spPr>
          <a:xfrm>
            <a:off x="4617720" y="5157216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最大速度</a:t>
            </a:r>
            <a:endParaRPr lang="zh-CN"/>
          </a:p>
        </p:txBody>
      </p:sp>
      <p:sp>
        <p:nvSpPr>
          <p:cNvPr id="34" name="metric-34"/>
          <p:cNvSpPr/>
          <p:nvPr/>
        </p:nvSpPr>
        <p:spPr>
          <a:xfrm>
            <a:off x="6949440" y="4709160"/>
            <a:ext cx="1828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35" name="metric-value-35"/>
          <p:cNvSpPr txBox="1"/>
          <p:nvPr/>
        </p:nvSpPr>
        <p:spPr>
          <a:xfrm>
            <a:off x="6949440" y="481888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1F9D8A"/>
                </a:solidFill>
                <a:latin typeface="Microsoft YaHei"/>
                <a:ea typeface="Microsoft YaHei"/>
              </a:rPr>
              <a:t>0</a:t>
            </a:r>
            <a:endParaRPr lang="zh-CN"/>
          </a:p>
        </p:txBody>
      </p:sp>
      <p:sp>
        <p:nvSpPr>
          <p:cNvPr id="36" name="metric-label-36"/>
          <p:cNvSpPr txBox="1"/>
          <p:nvPr/>
        </p:nvSpPr>
        <p:spPr>
          <a:xfrm>
            <a:off x="6995160" y="5157216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硬转向次数</a:t>
            </a:r>
            <a:endParaRPr lang="zh-CN"/>
          </a:p>
        </p:txBody>
      </p:sp>
      <p:sp>
        <p:nvSpPr>
          <p:cNvPr id="37" name="footer"/>
          <p:cNvSpPr txBox="1"/>
          <p:nvPr/>
        </p:nvSpPr>
        <p:spPr>
          <a:xfrm>
            <a:off x="9829800" y="647395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zh-CN" sz="700">
                <a:solidFill>
                  <a:srgbClr val="8CA0AF"/>
                </a:solidFill>
                <a:latin typeface="Microsoft YaHei"/>
                <a:ea typeface="Microsoft YaHei"/>
              </a:rPr>
              <a:t>视觉自主导航仿真系统  |  7/12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ine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411480" y="310896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视觉自主导航指挥舱</a:t>
            </a:r>
            <a:endParaRPr lang="zh-CN"/>
          </a:p>
        </p:txBody>
      </p:sp>
      <p:sp>
        <p:nvSpPr>
          <p:cNvPr id="4" name="subtitle"/>
          <p:cNvSpPr txBox="1"/>
          <p:nvPr/>
        </p:nvSpPr>
        <p:spPr>
          <a:xfrm>
            <a:off x="438912" y="74980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三维飞行、实时影像、遥测、事件流和报告同步推进。</a:t>
            </a:r>
            <a:endParaRPr lang="zh-CN"/>
          </a:p>
        </p:txBody>
      </p:sp>
      <p:sp>
        <p:nvSpPr>
          <p:cNvPr id="5" name="card-5"/>
          <p:cNvSpPr/>
          <p:nvPr/>
        </p:nvSpPr>
        <p:spPr>
          <a:xfrm>
            <a:off x="7635240" y="1234440"/>
            <a:ext cx="3611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6" name="title-6"/>
          <p:cNvSpPr txBox="1"/>
          <p:nvPr/>
        </p:nvSpPr>
        <p:spPr>
          <a:xfrm>
            <a:off x="7799832" y="1362456"/>
            <a:ext cx="32826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核心展示</a:t>
            </a:r>
            <a:endParaRPr lang="zh-CN"/>
          </a:p>
        </p:txBody>
      </p:sp>
      <p:sp>
        <p:nvSpPr>
          <p:cNvPr id="7" name="body-7"/>
          <p:cNvSpPr txBox="1"/>
          <p:nvPr/>
        </p:nvSpPr>
        <p:spPr>
          <a:xfrm>
            <a:off x="7799832" y="1673352"/>
            <a:ext cx="3282696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中央三维场景展示参考轨迹与融合轨迹；右侧展示 UAV 影像、飞行遥测和视觉定位状态。</a:t>
            </a:r>
            <a:endParaRPr lang="zh-CN"/>
          </a:p>
        </p:txBody>
      </p:sp>
      <p:sp>
        <p:nvSpPr>
          <p:cNvPr id="8" name="card-8"/>
          <p:cNvSpPr/>
          <p:nvPr/>
        </p:nvSpPr>
        <p:spPr>
          <a:xfrm>
            <a:off x="7635240" y="3063240"/>
            <a:ext cx="3611880" cy="1417320"/>
          </a:xfrm>
          <a:prstGeom prst="roundRect">
            <a:avLst/>
          </a:prstGeom>
          <a:solidFill>
            <a:srgbClr val="ECF8F5"/>
          </a:solidFill>
          <a:ln>
            <a:solidFill>
              <a:srgbClr val="D7E1EA"/>
            </a:solidFill>
          </a:ln>
        </p:spPr>
      </p:sp>
      <p:sp>
        <p:nvSpPr>
          <p:cNvPr id="9" name="title-9"/>
          <p:cNvSpPr txBox="1"/>
          <p:nvPr/>
        </p:nvSpPr>
        <p:spPr>
          <a:xfrm>
            <a:off x="7799832" y="3191256"/>
            <a:ext cx="32826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演示价值</a:t>
            </a:r>
            <a:endParaRPr lang="zh-CN"/>
          </a:p>
        </p:txBody>
      </p:sp>
      <p:sp>
        <p:nvSpPr>
          <p:cNvPr id="10" name="body-10"/>
          <p:cNvSpPr txBox="1"/>
          <p:nvPr/>
        </p:nvSpPr>
        <p:spPr>
          <a:xfrm>
            <a:off x="7799832" y="3502152"/>
            <a:ext cx="3282696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无人机不是按固定路线动画播放，而是由后端融合导航时间线驱动连续飞行。</a:t>
            </a:r>
            <a:endParaRPr lang="zh-CN"/>
          </a:p>
        </p:txBody>
      </p:sp>
      <p:pic>
        <p:nvPicPr>
          <p:cNvPr id="11" name="frontend_luojia_scene_headl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15568"/>
            <a:ext cx="6675120" cy="4434840"/>
          </a:xfrm>
          <a:prstGeom prst="rect">
            <a:avLst/>
          </a:prstGeom>
        </p:spPr>
      </p:pic>
      <p:sp>
        <p:nvSpPr>
          <p:cNvPr id="12" name="footer"/>
          <p:cNvSpPr txBox="1"/>
          <p:nvPr/>
        </p:nvSpPr>
        <p:spPr>
          <a:xfrm>
            <a:off x="9829800" y="647395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zh-CN" sz="700">
                <a:solidFill>
                  <a:srgbClr val="8CA0AF"/>
                </a:solidFill>
                <a:latin typeface="Microsoft YaHei"/>
                <a:ea typeface="Microsoft YaHei"/>
              </a:rPr>
              <a:t>视觉自主导航仿真系统  |  8/12</a:t>
            </a:r>
            <a:endParaRPr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ine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411480" y="310896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规划、风险与重规划支撑</a:t>
            </a:r>
            <a:endParaRPr lang="zh-CN"/>
          </a:p>
        </p:txBody>
      </p:sp>
      <p:sp>
        <p:nvSpPr>
          <p:cNvPr id="4" name="subtitle"/>
          <p:cNvSpPr txBox="1"/>
          <p:nvPr/>
        </p:nvSpPr>
        <p:spPr>
          <a:xfrm>
            <a:off x="438912" y="74980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航线规划是视觉自主导航任务的安全约束服务。</a:t>
            </a:r>
            <a:endParaRPr lang="zh-CN"/>
          </a:p>
        </p:txBody>
      </p:sp>
      <p:sp>
        <p:nvSpPr>
          <p:cNvPr id="5" name="bullets"/>
          <p:cNvSpPr txBox="1"/>
          <p:nvPr/>
        </p:nvSpPr>
        <p:spPr>
          <a:xfrm>
            <a:off x="777240" y="1234440"/>
            <a:ext cx="5577840" cy="3566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400">
                <a:solidFill>
                  <a:srgbClr val="172033"/>
                </a:solidFill>
                <a:latin typeface="Microsoft YaHei"/>
                <a:ea typeface="Microsoft YaHei"/>
              </a:rPr>
              <a:t>• 生成最短、最安全、综合最优三类参考航线。</a:t>
            </a:r>
            <a:endParaRPr lang="zh-CN"/>
          </a:p>
          <a:p>
            <a:pPr/>
            <a:r>
              <a:rPr lang="zh-CN" sz="1400">
                <a:solidFill>
                  <a:srgbClr val="172033"/>
                </a:solidFill>
                <a:latin typeface="Microsoft YaHei"/>
                <a:ea typeface="Microsoft YaHei"/>
              </a:rPr>
              <a:t>• 输出风险评分、风险航段、风险原因和高程剖面。</a:t>
            </a:r>
            <a:endParaRPr lang="zh-CN"/>
          </a:p>
          <a:p>
            <a:pPr/>
            <a:r>
              <a:rPr lang="zh-CN" sz="1400">
                <a:solidFill>
                  <a:srgbClr val="172033"/>
                </a:solidFill>
                <a:latin typeface="Microsoft YaHei"/>
                <a:ea typeface="Microsoft YaHei"/>
              </a:rPr>
              <a:t>• 基于当前 fused_position 判断偏航、接近风险区或进入复核状态。</a:t>
            </a:r>
            <a:endParaRPr lang="zh-CN"/>
          </a:p>
          <a:p>
            <a:pPr/>
            <a:r>
              <a:rPr lang="zh-CN" sz="1400">
                <a:solidFill>
                  <a:srgbClr val="172033"/>
                </a:solidFill>
                <a:latin typeface="Microsoft YaHei"/>
                <a:ea typeface="Microsoft YaHei"/>
              </a:rPr>
              <a:t>• 临时风险出现时，从当前融合位置接续重规划。</a:t>
            </a:r>
            <a:endParaRPr lang="zh-CN"/>
          </a:p>
          <a:p>
            <a:pPr/>
            <a:r>
              <a:rPr lang="zh-CN" sz="1400">
                <a:solidFill>
                  <a:srgbClr val="172033"/>
                </a:solidFill>
                <a:latin typeface="Microsoft YaHei"/>
                <a:ea typeface="Microsoft YaHei"/>
              </a:rPr>
              <a:t>• 报告统一汇总航线、风险、视觉导航质量和事件日志。</a:t>
            </a:r>
            <a:endParaRPr lang="zh-CN"/>
          </a:p>
        </p:txBody>
      </p:sp>
      <p:pic>
        <p:nvPicPr>
          <p:cNvPr id="6" name="v05_report_page_summary_route_risk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34440"/>
            <a:ext cx="4800600" cy="3840480"/>
          </a:xfrm>
          <a:prstGeom prst="rect">
            <a:avLst/>
          </a:prstGeom>
        </p:spPr>
      </p:pic>
      <p:sp>
        <p:nvSpPr>
          <p:cNvPr id="7" name="footer"/>
          <p:cNvSpPr txBox="1"/>
          <p:nvPr/>
        </p:nvSpPr>
        <p:spPr>
          <a:xfrm>
            <a:off x="9829800" y="647395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zh-CN" sz="700">
                <a:solidFill>
                  <a:srgbClr val="8CA0AF"/>
                </a:solidFill>
                <a:latin typeface="Microsoft YaHei"/>
                <a:ea typeface="Microsoft YaHei"/>
              </a:rPr>
              <a:t>视觉自主导航仿真系统  |  9/12</a:t>
            </a:r>
            <a:endParaRPr 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ine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411480" y="310896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当前验收结果</a:t>
            </a:r>
            <a:endParaRPr lang="zh-CN"/>
          </a:p>
        </p:txBody>
      </p:sp>
      <p:sp>
        <p:nvSpPr>
          <p:cNvPr id="4" name="subtitle"/>
          <p:cNvSpPr txBox="1"/>
          <p:nvPr/>
        </p:nvSpPr>
        <p:spPr>
          <a:xfrm>
            <a:off x="438912" y="74980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v0.5a 软件仿真链路已通过一键门禁。</a:t>
            </a:r>
            <a:endParaRPr lang="zh-CN"/>
          </a:p>
        </p:txBody>
      </p:sp>
      <p:sp>
        <p:nvSpPr>
          <p:cNvPr id="5" name="metric-5"/>
          <p:cNvSpPr/>
          <p:nvPr/>
        </p:nvSpPr>
        <p:spPr>
          <a:xfrm>
            <a:off x="685800" y="1325880"/>
            <a:ext cx="1645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6" name="metric-value-6"/>
          <p:cNvSpPr txBox="1"/>
          <p:nvPr/>
        </p:nvSpPr>
        <p:spPr>
          <a:xfrm>
            <a:off x="685800" y="143560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2AA876"/>
                </a:solidFill>
                <a:latin typeface="Microsoft YaHei"/>
                <a:ea typeface="Microsoft YaHei"/>
              </a:rPr>
              <a:t>12</a:t>
            </a:r>
            <a:endParaRPr lang="zh-CN"/>
          </a:p>
        </p:txBody>
      </p:sp>
      <p:sp>
        <p:nvSpPr>
          <p:cNvPr id="7" name="metric-label-7"/>
          <p:cNvSpPr txBox="1"/>
          <p:nvPr/>
        </p:nvSpPr>
        <p:spPr>
          <a:xfrm>
            <a:off x="731520" y="177393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backend tests passed</a:t>
            </a:r>
            <a:endParaRPr lang="zh-CN"/>
          </a:p>
        </p:txBody>
      </p:sp>
      <p:sp>
        <p:nvSpPr>
          <p:cNvPr id="8" name="metric-8"/>
          <p:cNvSpPr/>
          <p:nvPr/>
        </p:nvSpPr>
        <p:spPr>
          <a:xfrm>
            <a:off x="2926080" y="1325880"/>
            <a:ext cx="1645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9" name="metric-value-9"/>
          <p:cNvSpPr txBox="1"/>
          <p:nvPr/>
        </p:nvSpPr>
        <p:spPr>
          <a:xfrm>
            <a:off x="2926080" y="143560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1F5E8C"/>
                </a:solidFill>
                <a:latin typeface="Microsoft YaHei"/>
                <a:ea typeface="Microsoft YaHei"/>
              </a:rPr>
              <a:t>6/6</a:t>
            </a:r>
            <a:endParaRPr lang="zh-CN"/>
          </a:p>
        </p:txBody>
      </p:sp>
      <p:sp>
        <p:nvSpPr>
          <p:cNvPr id="10" name="metric-label-10"/>
          <p:cNvSpPr txBox="1"/>
          <p:nvPr/>
        </p:nvSpPr>
        <p:spPr>
          <a:xfrm>
            <a:off x="2971800" y="177393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ORB 定位成功</a:t>
            </a:r>
            <a:endParaRPr lang="zh-CN"/>
          </a:p>
        </p:txBody>
      </p:sp>
      <p:sp>
        <p:nvSpPr>
          <p:cNvPr id="11" name="metric-11"/>
          <p:cNvSpPr/>
          <p:nvPr/>
        </p:nvSpPr>
        <p:spPr>
          <a:xfrm>
            <a:off x="5166360" y="1325880"/>
            <a:ext cx="1645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12" name="metric-value-12"/>
          <p:cNvSpPr txBox="1"/>
          <p:nvPr/>
        </p:nvSpPr>
        <p:spPr>
          <a:xfrm>
            <a:off x="5166360" y="143560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1F9D8A"/>
                </a:solidFill>
                <a:latin typeface="Microsoft YaHei"/>
                <a:ea typeface="Microsoft YaHei"/>
              </a:rPr>
              <a:t>36</a:t>
            </a:r>
            <a:endParaRPr lang="zh-CN"/>
          </a:p>
        </p:txBody>
      </p:sp>
      <p:sp>
        <p:nvSpPr>
          <p:cNvPr id="13" name="metric-label-13"/>
          <p:cNvSpPr txBox="1"/>
          <p:nvPr/>
        </p:nvSpPr>
        <p:spPr>
          <a:xfrm>
            <a:off x="5212080" y="177393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导航时间线帧</a:t>
            </a:r>
            <a:endParaRPr lang="zh-CN"/>
          </a:p>
        </p:txBody>
      </p:sp>
      <p:sp>
        <p:nvSpPr>
          <p:cNvPr id="14" name="metric-14"/>
          <p:cNvSpPr/>
          <p:nvPr/>
        </p:nvSpPr>
        <p:spPr>
          <a:xfrm>
            <a:off x="7406640" y="1325880"/>
            <a:ext cx="1645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15" name="metric-value-15"/>
          <p:cNvSpPr txBox="1"/>
          <p:nvPr/>
        </p:nvSpPr>
        <p:spPr>
          <a:xfrm>
            <a:off x="7406640" y="143560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F4A261"/>
                </a:solidFill>
                <a:latin typeface="Microsoft YaHei"/>
                <a:ea typeface="Microsoft YaHei"/>
              </a:rPr>
              <a:t>27</a:t>
            </a:r>
            <a:endParaRPr lang="zh-CN"/>
          </a:p>
        </p:txBody>
      </p:sp>
      <p:sp>
        <p:nvSpPr>
          <p:cNvPr id="16" name="metric-label-16"/>
          <p:cNvSpPr txBox="1"/>
          <p:nvPr/>
        </p:nvSpPr>
        <p:spPr>
          <a:xfrm>
            <a:off x="7452360" y="177393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视觉观测帧</a:t>
            </a:r>
            <a:endParaRPr lang="zh-CN"/>
          </a:p>
        </p:txBody>
      </p:sp>
      <p:sp>
        <p:nvSpPr>
          <p:cNvPr id="17" name="metric-17"/>
          <p:cNvSpPr/>
          <p:nvPr/>
        </p:nvSpPr>
        <p:spPr>
          <a:xfrm>
            <a:off x="9646920" y="1325880"/>
            <a:ext cx="1645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18" name="metric-value-18"/>
          <p:cNvSpPr txBox="1"/>
          <p:nvPr/>
        </p:nvSpPr>
        <p:spPr>
          <a:xfrm>
            <a:off x="9646920" y="143560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E76F51"/>
                </a:solidFill>
                <a:latin typeface="Microsoft YaHei"/>
                <a:ea typeface="Microsoft YaHei"/>
              </a:rPr>
              <a:t>0.775</a:t>
            </a:r>
            <a:endParaRPr lang="zh-CN"/>
          </a:p>
        </p:txBody>
      </p:sp>
      <p:sp>
        <p:nvSpPr>
          <p:cNvPr id="19" name="metric-label-19"/>
          <p:cNvSpPr txBox="1"/>
          <p:nvPr/>
        </p:nvSpPr>
        <p:spPr>
          <a:xfrm>
            <a:off x="9692640" y="177393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平均置信度</a:t>
            </a:r>
            <a:endParaRPr lang="zh-CN"/>
          </a:p>
        </p:txBody>
      </p:sp>
      <p:sp>
        <p:nvSpPr>
          <p:cNvPr id="20" name="metric-20"/>
          <p:cNvSpPr/>
          <p:nvPr/>
        </p:nvSpPr>
        <p:spPr>
          <a:xfrm>
            <a:off x="685800" y="2468880"/>
            <a:ext cx="1645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21" name="metric-value-21"/>
          <p:cNvSpPr txBox="1"/>
          <p:nvPr/>
        </p:nvSpPr>
        <p:spPr>
          <a:xfrm>
            <a:off x="685800" y="257860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2AA876"/>
                </a:solidFill>
                <a:latin typeface="Microsoft YaHei"/>
                <a:ea typeface="Microsoft YaHei"/>
              </a:rPr>
              <a:t>40.6m</a:t>
            </a:r>
            <a:endParaRPr lang="zh-CN"/>
          </a:p>
        </p:txBody>
      </p:sp>
      <p:sp>
        <p:nvSpPr>
          <p:cNvPr id="22" name="metric-label-22"/>
          <p:cNvSpPr txBox="1"/>
          <p:nvPr/>
        </p:nvSpPr>
        <p:spPr>
          <a:xfrm>
            <a:off x="731520" y="291693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平均误差半径</a:t>
            </a:r>
            <a:endParaRPr lang="zh-CN"/>
          </a:p>
        </p:txBody>
      </p:sp>
      <p:sp>
        <p:nvSpPr>
          <p:cNvPr id="23" name="metric-23"/>
          <p:cNvSpPr/>
          <p:nvPr/>
        </p:nvSpPr>
        <p:spPr>
          <a:xfrm>
            <a:off x="2926080" y="2468880"/>
            <a:ext cx="1645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24" name="metric-value-24"/>
          <p:cNvSpPr txBox="1"/>
          <p:nvPr/>
        </p:nvSpPr>
        <p:spPr>
          <a:xfrm>
            <a:off x="2926080" y="257860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1F5E8C"/>
                </a:solidFill>
                <a:latin typeface="Microsoft YaHei"/>
                <a:ea typeface="Microsoft YaHei"/>
              </a:rPr>
              <a:t>2.1m</a:t>
            </a:r>
            <a:endParaRPr lang="zh-CN"/>
          </a:p>
        </p:txBody>
      </p:sp>
      <p:sp>
        <p:nvSpPr>
          <p:cNvPr id="25" name="metric-label-25"/>
          <p:cNvSpPr txBox="1"/>
          <p:nvPr/>
        </p:nvSpPr>
        <p:spPr>
          <a:xfrm>
            <a:off x="2971800" y="291693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融合轨迹平均偏差</a:t>
            </a:r>
            <a:endParaRPr lang="zh-CN"/>
          </a:p>
        </p:txBody>
      </p:sp>
      <p:sp>
        <p:nvSpPr>
          <p:cNvPr id="26" name="metric-26"/>
          <p:cNvSpPr/>
          <p:nvPr/>
        </p:nvSpPr>
        <p:spPr>
          <a:xfrm>
            <a:off x="5166360" y="2468880"/>
            <a:ext cx="1645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27" name="metric-value-27"/>
          <p:cNvSpPr txBox="1"/>
          <p:nvPr/>
        </p:nvSpPr>
        <p:spPr>
          <a:xfrm>
            <a:off x="5166360" y="257860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1F9D8A"/>
                </a:solidFill>
                <a:latin typeface="Microsoft YaHei"/>
                <a:ea typeface="Microsoft YaHei"/>
              </a:rPr>
              <a:t>8.6m</a:t>
            </a:r>
            <a:endParaRPr lang="zh-CN"/>
          </a:p>
        </p:txBody>
      </p:sp>
      <p:sp>
        <p:nvSpPr>
          <p:cNvPr id="28" name="metric-label-28"/>
          <p:cNvSpPr txBox="1"/>
          <p:nvPr/>
        </p:nvSpPr>
        <p:spPr>
          <a:xfrm>
            <a:off x="5212080" y="291693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终点误差</a:t>
            </a:r>
            <a:endParaRPr lang="zh-CN"/>
          </a:p>
        </p:txBody>
      </p:sp>
      <p:sp>
        <p:nvSpPr>
          <p:cNvPr id="29" name="metric-29"/>
          <p:cNvSpPr/>
          <p:nvPr/>
        </p:nvSpPr>
        <p:spPr>
          <a:xfrm>
            <a:off x="7406640" y="2468880"/>
            <a:ext cx="1645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30" name="metric-value-30"/>
          <p:cNvSpPr txBox="1"/>
          <p:nvPr/>
        </p:nvSpPr>
        <p:spPr>
          <a:xfrm>
            <a:off x="7406640" y="257860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F4A261"/>
                </a:solidFill>
                <a:latin typeface="Microsoft YaHei"/>
                <a:ea typeface="Microsoft YaHei"/>
              </a:rPr>
              <a:t>0</a:t>
            </a:r>
            <a:endParaRPr lang="zh-CN"/>
          </a:p>
        </p:txBody>
      </p:sp>
      <p:sp>
        <p:nvSpPr>
          <p:cNvPr id="31" name="metric-label-31"/>
          <p:cNvSpPr txBox="1"/>
          <p:nvPr/>
        </p:nvSpPr>
        <p:spPr>
          <a:xfrm>
            <a:off x="7452360" y="291693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回退帧</a:t>
            </a:r>
            <a:endParaRPr lang="zh-CN"/>
          </a:p>
        </p:txBody>
      </p:sp>
      <p:sp>
        <p:nvSpPr>
          <p:cNvPr id="32" name="metric-32"/>
          <p:cNvSpPr/>
          <p:nvPr/>
        </p:nvSpPr>
        <p:spPr>
          <a:xfrm>
            <a:off x="9646920" y="2468880"/>
            <a:ext cx="1645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33" name="metric-value-33"/>
          <p:cNvSpPr txBox="1"/>
          <p:nvPr/>
        </p:nvSpPr>
        <p:spPr>
          <a:xfrm>
            <a:off x="9646920" y="257860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1900" b="1">
                <a:solidFill>
                  <a:srgbClr val="E76F51"/>
                </a:solidFill>
                <a:latin typeface="Microsoft YaHei"/>
                <a:ea typeface="Microsoft YaHei"/>
              </a:rPr>
              <a:t>demo</a:t>
            </a:r>
            <a:endParaRPr lang="zh-CN"/>
          </a:p>
        </p:txBody>
      </p:sp>
      <p:sp>
        <p:nvSpPr>
          <p:cNvPr id="34" name="metric-label-34"/>
          <p:cNvSpPr txBox="1"/>
          <p:nvPr/>
        </p:nvSpPr>
        <p:spPr>
          <a:xfrm>
            <a:off x="9692640" y="291693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sz="700">
                <a:solidFill>
                  <a:srgbClr val="5C6B7A"/>
                </a:solidFill>
                <a:latin typeface="Microsoft YaHei"/>
                <a:ea typeface="Microsoft YaHei"/>
              </a:rPr>
              <a:t>quality verified</a:t>
            </a:r>
            <a:endParaRPr lang="zh-CN"/>
          </a:p>
        </p:txBody>
      </p:sp>
      <p:sp>
        <p:nvSpPr>
          <p:cNvPr id="35" name="card-35"/>
          <p:cNvSpPr/>
          <p:nvPr/>
        </p:nvSpPr>
        <p:spPr>
          <a:xfrm>
            <a:off x="914400" y="4343400"/>
            <a:ext cx="10332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36" name="title-36"/>
          <p:cNvSpPr txBox="1"/>
          <p:nvPr/>
        </p:nvSpPr>
        <p:spPr>
          <a:xfrm>
            <a:off x="1078992" y="4471416"/>
            <a:ext cx="100035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说明</a:t>
            </a:r>
            <a:endParaRPr lang="zh-CN"/>
          </a:p>
        </p:txBody>
      </p:sp>
      <p:sp>
        <p:nvSpPr>
          <p:cNvPr id="37" name="body-37"/>
          <p:cNvSpPr txBox="1"/>
          <p:nvPr/>
        </p:nvSpPr>
        <p:spPr>
          <a:xfrm>
            <a:off x="1078992" y="4782312"/>
            <a:ext cx="10003536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门禁覆盖：前端构建、后端 pytest/smoke、ORB 证据生成、导航/报告接口、Luojia DOM 证据和截图证据。</a:t>
            </a:r>
            <a:endParaRPr lang="zh-CN"/>
          </a:p>
        </p:txBody>
      </p:sp>
      <p:sp>
        <p:nvSpPr>
          <p:cNvPr id="38" name="footer"/>
          <p:cNvSpPr txBox="1"/>
          <p:nvPr/>
        </p:nvSpPr>
        <p:spPr>
          <a:xfrm>
            <a:off x="9829800" y="647395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zh-CN" sz="700">
                <a:solidFill>
                  <a:srgbClr val="8CA0AF"/>
                </a:solidFill>
                <a:latin typeface="Microsoft YaHei"/>
                <a:ea typeface="Microsoft YaHei"/>
              </a:rPr>
              <a:t>视觉自主导航仿真系统  |  10/12</a:t>
            </a:r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ine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411480" y="310896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项目创新点</a:t>
            </a:r>
            <a:endParaRPr lang="zh-CN"/>
          </a:p>
        </p:txBody>
      </p:sp>
      <p:sp>
        <p:nvSpPr>
          <p:cNvPr id="4" name="subtitle"/>
          <p:cNvSpPr txBox="1"/>
          <p:nvPr/>
        </p:nvSpPr>
        <p:spPr>
          <a:xfrm>
            <a:off x="438912" y="74980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从“航线展示”升级为“视觉定位驱动的导航状态仿真”。</a:t>
            </a:r>
            <a:endParaRPr lang="zh-CN"/>
          </a:p>
        </p:txBody>
      </p:sp>
      <p:sp>
        <p:nvSpPr>
          <p:cNvPr id="5" name="card-5"/>
          <p:cNvSpPr/>
          <p:nvPr/>
        </p:nvSpPr>
        <p:spPr>
          <a:xfrm>
            <a:off x="685800" y="12344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6" name="title-6"/>
          <p:cNvSpPr txBox="1"/>
          <p:nvPr/>
        </p:nvSpPr>
        <p:spPr>
          <a:xfrm>
            <a:off x="850392" y="1362456"/>
            <a:ext cx="30540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SuperMap 三维空间底座</a:t>
            </a:r>
            <a:endParaRPr lang="zh-CN"/>
          </a:p>
        </p:txBody>
      </p:sp>
      <p:sp>
        <p:nvSpPr>
          <p:cNvPr id="7" name="body-7"/>
          <p:cNvSpPr txBox="1"/>
          <p:nvPr/>
        </p:nvSpPr>
        <p:spPr>
          <a:xfrm>
            <a:off x="850392" y="1673352"/>
            <a:ext cx="305409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scene/map/data 服务承载影像、DEM、建筑、风险和轨迹。</a:t>
            </a:r>
            <a:endParaRPr lang="zh-CN"/>
          </a:p>
        </p:txBody>
      </p:sp>
      <p:sp>
        <p:nvSpPr>
          <p:cNvPr id="8" name="card-8"/>
          <p:cNvSpPr/>
          <p:nvPr/>
        </p:nvSpPr>
        <p:spPr>
          <a:xfrm>
            <a:off x="4389120" y="1234440"/>
            <a:ext cx="3383280" cy="1234440"/>
          </a:xfrm>
          <a:prstGeom prst="roundRect">
            <a:avLst/>
          </a:prstGeom>
          <a:solidFill>
            <a:srgbClr val="ECF8F5"/>
          </a:solidFill>
          <a:ln>
            <a:solidFill>
              <a:srgbClr val="D7E1EA"/>
            </a:solidFill>
          </a:ln>
        </p:spPr>
      </p:sp>
      <p:sp>
        <p:nvSpPr>
          <p:cNvPr id="9" name="title-9"/>
          <p:cNvSpPr txBox="1"/>
          <p:nvPr/>
        </p:nvSpPr>
        <p:spPr>
          <a:xfrm>
            <a:off x="4553712" y="1362456"/>
            <a:ext cx="30540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ORB 视觉定位入链</a:t>
            </a:r>
            <a:endParaRPr lang="zh-CN"/>
          </a:p>
        </p:txBody>
      </p:sp>
      <p:sp>
        <p:nvSpPr>
          <p:cNvPr id="10" name="body-10"/>
          <p:cNvSpPr txBox="1"/>
          <p:nvPr/>
        </p:nvSpPr>
        <p:spPr>
          <a:xfrm>
            <a:off x="4553712" y="1673352"/>
            <a:ext cx="305409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真实特征匹配结果进入 visual_position 并参与 fused_position。</a:t>
            </a:r>
            <a:endParaRPr lang="zh-CN"/>
          </a:p>
        </p:txBody>
      </p:sp>
      <p:sp>
        <p:nvSpPr>
          <p:cNvPr id="11" name="card-11"/>
          <p:cNvSpPr/>
          <p:nvPr/>
        </p:nvSpPr>
        <p:spPr>
          <a:xfrm>
            <a:off x="8092440" y="12344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12" name="title-12"/>
          <p:cNvSpPr txBox="1"/>
          <p:nvPr/>
        </p:nvSpPr>
        <p:spPr>
          <a:xfrm>
            <a:off x="8257032" y="1362456"/>
            <a:ext cx="30540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后端权威状态机</a:t>
            </a:r>
            <a:endParaRPr lang="zh-CN"/>
          </a:p>
        </p:txBody>
      </p:sp>
      <p:sp>
        <p:nvSpPr>
          <p:cNvPr id="13" name="body-13"/>
          <p:cNvSpPr txBox="1"/>
          <p:nvPr/>
        </p:nvSpPr>
        <p:spPr>
          <a:xfrm>
            <a:off x="8257032" y="1673352"/>
            <a:ext cx="305409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前端不自行推演 UAV 状态，统一消费后端导航时间线。</a:t>
            </a:r>
            <a:endParaRPr lang="zh-CN"/>
          </a:p>
        </p:txBody>
      </p:sp>
      <p:sp>
        <p:nvSpPr>
          <p:cNvPr id="14" name="card-14"/>
          <p:cNvSpPr/>
          <p:nvPr/>
        </p:nvSpPr>
        <p:spPr>
          <a:xfrm>
            <a:off x="685800" y="30632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15" name="title-15"/>
          <p:cNvSpPr txBox="1"/>
          <p:nvPr/>
        </p:nvSpPr>
        <p:spPr>
          <a:xfrm>
            <a:off x="850392" y="3191256"/>
            <a:ext cx="30540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可量化质量报告</a:t>
            </a:r>
            <a:endParaRPr lang="zh-CN"/>
          </a:p>
        </p:txBody>
      </p:sp>
      <p:sp>
        <p:nvSpPr>
          <p:cNvPr id="16" name="body-16"/>
          <p:cNvSpPr txBox="1"/>
          <p:nvPr/>
        </p:nvSpPr>
        <p:spPr>
          <a:xfrm>
            <a:off x="850392" y="3502152"/>
            <a:ext cx="305409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输出置信度、误差半径、轨迹偏差、终点误差和回退帧。</a:t>
            </a:r>
            <a:endParaRPr lang="zh-CN"/>
          </a:p>
        </p:txBody>
      </p:sp>
      <p:sp>
        <p:nvSpPr>
          <p:cNvPr id="17" name="card-17"/>
          <p:cNvSpPr/>
          <p:nvPr/>
        </p:nvSpPr>
        <p:spPr>
          <a:xfrm>
            <a:off x="4389120" y="30632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18" name="title-18"/>
          <p:cNvSpPr txBox="1"/>
          <p:nvPr/>
        </p:nvSpPr>
        <p:spPr>
          <a:xfrm>
            <a:off x="4553712" y="3191256"/>
            <a:ext cx="30540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风险重规划接续</a:t>
            </a:r>
            <a:endParaRPr lang="zh-CN"/>
          </a:p>
        </p:txBody>
      </p:sp>
      <p:sp>
        <p:nvSpPr>
          <p:cNvPr id="19" name="body-19"/>
          <p:cNvSpPr txBox="1"/>
          <p:nvPr/>
        </p:nvSpPr>
        <p:spPr>
          <a:xfrm>
            <a:off x="4553712" y="3502152"/>
            <a:ext cx="305409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临时风险从当前 fused_position 接续重规划。</a:t>
            </a:r>
            <a:endParaRPr lang="zh-CN"/>
          </a:p>
        </p:txBody>
      </p:sp>
      <p:sp>
        <p:nvSpPr>
          <p:cNvPr id="20" name="card-20"/>
          <p:cNvSpPr/>
          <p:nvPr/>
        </p:nvSpPr>
        <p:spPr>
          <a:xfrm>
            <a:off x="8092440" y="30632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</p:sp>
      <p:sp>
        <p:nvSpPr>
          <p:cNvPr id="21" name="title-21"/>
          <p:cNvSpPr txBox="1"/>
          <p:nvPr/>
        </p:nvSpPr>
        <p:spPr>
          <a:xfrm>
            <a:off x="8257032" y="3191256"/>
            <a:ext cx="30540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Provider 可扩展</a:t>
            </a:r>
            <a:endParaRPr lang="zh-CN"/>
          </a:p>
        </p:txBody>
      </p:sp>
      <p:sp>
        <p:nvSpPr>
          <p:cNvPr id="22" name="body-22"/>
          <p:cNvSpPr txBox="1"/>
          <p:nvPr/>
        </p:nvSpPr>
        <p:spPr>
          <a:xfrm>
            <a:off x="8257032" y="3502152"/>
            <a:ext cx="305409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后续可接入 SIFT、LoFTR、LightGlue 或外部深度匹配器。</a:t>
            </a:r>
            <a:endParaRPr lang="zh-CN"/>
          </a:p>
        </p:txBody>
      </p:sp>
      <p:sp>
        <p:nvSpPr>
          <p:cNvPr id="23" name="footer"/>
          <p:cNvSpPr txBox="1"/>
          <p:nvPr/>
        </p:nvSpPr>
        <p:spPr>
          <a:xfrm>
            <a:off x="9829800" y="647395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zh-CN" sz="700">
                <a:solidFill>
                  <a:srgbClr val="8CA0AF"/>
                </a:solidFill>
                <a:latin typeface="Microsoft YaHei"/>
                <a:ea typeface="Microsoft YaHei"/>
              </a:rPr>
              <a:t>视觉自主导航仿真系统  |  11/12</a:t>
            </a:r>
            <a:endParaRPr 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ine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411480" y="310896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总结与下一步</a:t>
            </a:r>
            <a:endParaRPr lang="zh-CN"/>
          </a:p>
        </p:txBody>
      </p:sp>
      <p:sp>
        <p:nvSpPr>
          <p:cNvPr id="4" name="subtitle"/>
          <p:cNvSpPr txBox="1"/>
          <p:nvPr/>
        </p:nvSpPr>
        <p:spPr>
          <a:xfrm>
            <a:off x="438912" y="749808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已具备比赛演示闭环，下一步补真实数据和彩排证据。</a:t>
            </a:r>
            <a:endParaRPr lang="zh-CN"/>
          </a:p>
        </p:txBody>
      </p:sp>
      <p:sp>
        <p:nvSpPr>
          <p:cNvPr id="5" name="bullets"/>
          <p:cNvSpPr txBox="1"/>
          <p:nvPr/>
        </p:nvSpPr>
        <p:spPr>
          <a:xfrm>
            <a:off x="777240" y="1234440"/>
            <a:ext cx="7315200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400">
                <a:solidFill>
                  <a:srgbClr val="172033"/>
                </a:solidFill>
                <a:latin typeface="Microsoft YaHei"/>
                <a:ea typeface="Microsoft YaHei"/>
              </a:rPr>
              <a:t>• 已完成：SuperMap 珞珈山 scene/map/data、ORB 半真实视觉定位、后端融合导航时间线、前端三维指挥舱和质量报告。</a:t>
            </a:r>
            <a:endParaRPr lang="zh-CN"/>
          </a:p>
          <a:p>
            <a:pPr/>
            <a:r>
              <a:rPr lang="zh-CN" sz="1400">
                <a:solidFill>
                  <a:srgbClr val="172033"/>
                </a:solidFill>
                <a:latin typeface="Microsoft YaHei"/>
                <a:ea typeface="Microsoft YaHei"/>
              </a:rPr>
              <a:t>• 正在收尾：PPT、视频脚本、截图证据和完整彩排记录。</a:t>
            </a:r>
            <a:endParaRPr lang="zh-CN"/>
          </a:p>
          <a:p>
            <a:pPr/>
            <a:r>
              <a:rPr lang="zh-CN" sz="1400">
                <a:solidFill>
                  <a:srgbClr val="172033"/>
                </a:solidFill>
                <a:latin typeface="Microsoft YaHei"/>
                <a:ea typeface="Microsoft YaHei"/>
              </a:rPr>
              <a:t>• 后续扩展：真实 UAV 相机数据、SIFT/LoFTR/LightGlue provider、更真实的相机标定和误差评估。</a:t>
            </a:r>
            <a:endParaRPr lang="zh-CN"/>
          </a:p>
          <a:p>
            <a:pPr/>
            <a:r>
              <a:rPr lang="zh-CN" sz="1400">
                <a:solidFill>
                  <a:srgbClr val="172033"/>
                </a:solidFill>
                <a:latin typeface="Microsoft YaHei"/>
                <a:ea typeface="Microsoft YaHei"/>
              </a:rPr>
              <a:t>• 长期方向：在安全审批和硬件条件满足后，再研究真实飞控对接。</a:t>
            </a:r>
            <a:endParaRPr lang="zh-CN"/>
          </a:p>
        </p:txBody>
      </p:sp>
      <p:sp>
        <p:nvSpPr>
          <p:cNvPr id="6" name="card-6"/>
          <p:cNvSpPr/>
          <p:nvPr/>
        </p:nvSpPr>
        <p:spPr>
          <a:xfrm>
            <a:off x="8366760" y="1325880"/>
            <a:ext cx="3063240" cy="1920240"/>
          </a:xfrm>
          <a:prstGeom prst="roundRect">
            <a:avLst/>
          </a:prstGeom>
          <a:solidFill>
            <a:srgbClr val="FFF2EE"/>
          </a:solidFill>
          <a:ln>
            <a:solidFill>
              <a:srgbClr val="D7E1EA"/>
            </a:solidFill>
          </a:ln>
        </p:spPr>
      </p:sp>
      <p:sp>
        <p:nvSpPr>
          <p:cNvPr id="7" name="title-7"/>
          <p:cNvSpPr txBox="1"/>
          <p:nvPr/>
        </p:nvSpPr>
        <p:spPr>
          <a:xfrm>
            <a:off x="8531352" y="1453896"/>
            <a:ext cx="273405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1300" b="1">
                <a:solidFill>
                  <a:srgbClr val="172033"/>
                </a:solidFill>
                <a:latin typeface="Microsoft YaHei"/>
                <a:ea typeface="Microsoft YaHei"/>
              </a:rPr>
              <a:t>说明</a:t>
            </a:r>
            <a:endParaRPr lang="zh-CN"/>
          </a:p>
        </p:txBody>
      </p:sp>
      <p:sp>
        <p:nvSpPr>
          <p:cNvPr id="8" name="body-8"/>
          <p:cNvSpPr txBox="1"/>
          <p:nvPr/>
        </p:nvSpPr>
        <p:spPr>
          <a:xfrm>
            <a:off x="8531352" y="1764792"/>
            <a:ext cx="2734056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/>
            <a:r>
              <a:rPr lang="zh-CN" sz="900">
                <a:solidFill>
                  <a:srgbClr val="5C6B7A"/>
                </a:solidFill>
                <a:latin typeface="Microsoft YaHei"/>
                <a:ea typeface="Microsoft YaHei"/>
              </a:rPr>
              <a:t>答辩底线：软件仿真验证，不接真实飞控；半真实 UAV 帧，不等同真实飞行数据。</a:t>
            </a:r>
            <a:endParaRPr lang="zh-CN"/>
          </a:p>
        </p:txBody>
      </p:sp>
      <p:sp>
        <p:nvSpPr>
          <p:cNvPr id="9" name="footer"/>
          <p:cNvSpPr txBox="1"/>
          <p:nvPr/>
        </p:nvSpPr>
        <p:spPr>
          <a:xfrm>
            <a:off x="9829800" y="6473952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zh-CN" sz="700">
                <a:solidFill>
                  <a:srgbClr val="8CA0AF"/>
                </a:solidFill>
                <a:latin typeface="Microsoft YaHei"/>
                <a:ea typeface="Microsoft YaHei"/>
              </a:rPr>
              <a:t>视觉自主导航仿真系统  |  12/12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liveryTheme">
  <a:themeElements>
    <a:clrScheme name="Delivery">
      <a:dk1>
        <a:srgbClr val="172033"/>
      </a:dk1>
      <a:lt1>
        <a:srgbClr val="FFFFFF"/>
      </a:lt1>
      <a:dk2>
        <a:srgbClr val="102235"/>
      </a:dk2>
      <a:lt2>
        <a:srgbClr val="F7FAFC"/>
      </a:lt2>
      <a:accent1>
        <a:srgbClr val="1F5E8C"/>
      </a:accent1>
      <a:accent2>
        <a:srgbClr val="1F9D8A"/>
      </a:accent2>
      <a:accent3>
        <a:srgbClr val="22B8CF"/>
      </a:accent3>
      <a:accent4>
        <a:srgbClr val="F4A261"/>
      </a:accent4>
      <a:accent5>
        <a:srgbClr val="E76F51"/>
      </a:accent5>
      <a:accent6>
        <a:srgbClr val="5C6B7A"/>
      </a:accent6>
      <a:hlink>
        <a:srgbClr val="1F5E8C"/>
      </a:hlink>
      <a:folHlink>
        <a:srgbClr val="5C6B7A"/>
      </a:folHlink>
    </a:clrScheme>
    <a:fontScheme name="YaHei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Defaul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12</Slides>
  <Company>supermap_project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SuperMap GIS 底座的低空视觉自主导航与三维仿真规划系统</dc:title>
  <dc:creator>supermap_project</dc:creator>
  <cp:lastModifiedBy>supermap_project</cp:lastModifiedBy>
  <dcterms:created xsi:type="dcterms:W3CDTF">2026-06-09T17:27:00Z</dcterms:created>
  <dcterms:modified xsi:type="dcterms:W3CDTF">2026-06-09T17:27:00Z</dcterms:modified>
</cp:coreProperties>
</file>